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afternoon. My name is Narek Meloyan, and today I'll present my Master's thesis on deep learning for dimensionality reduction in multi-excitation hyperspectral imaging. This work was supervised by Professor Narine Sarvazyan. Over the next ~30 minutes I'll start with a broad introduction to hyperspectral imaging, walk through how fluorescence imaging works, explain why we need the 4D extension I studied, present the deep-learning framework I built, and show experimental results on two biological fluorescence datasets.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plan. The first six slides build the context — what HSI is and why we care about ME-HSI in the biomedical context. The middle third explains the method I developed. The final third presents experimental results on two datasets and the validation. I'll keep the intro brisk so we spend most of the time on the contribution and results.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anchor what hyperspectral imaging is, it helps to start with how different organisms see. Humans see in three channels — red, green, blue — and that's why a digital camera also has three. Honeybees see in three channels too, but shifted into the UV; flowers that look uniform to us have intricate UV nectar guides bees can see. Butterflies have around 9 photoreceptor types, and the mantis shrimp famously has 12-to-16 — plus it can detect light polarisation. Each step up means more discrimination — you can tell apart materials that looked identical at the lower channel count. A hyperspectral camera takes this all the way: 100 to 300 contiguous spectral channels, sampling the full visible-to-near-infrared spectrum continuously rather than binning it into 3 broad bands. That's the basic 'why' of HSI.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Once you have hundreds of channels per pixel, HSI shows up everywhere. Geologists use it to identify minerals from satellite data. Farmers use it to spot crop disease before it's visible. The food industry uses it to detect contamination on processing lines. Art conservators use it to identify pigments and reveal underdrawings beneath painted surfaces. The defence community uses it for camouflage and target identification. And — what this thesis cares about — biomedicine. The common thread is that materials carry characteristic spectral fingerprints. Two surfaces that look identical to the human eye can be told apart by their full spectrum. HSI essentially gives you a miniature laboratory measurement at every pixel.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Biomedicine cares about HSI because conventional medical imaging — RGB, MRI, CT — tells you where structures are but not what they're made of. Biological tissues differ chemically: healthy vs diseased, malignant vs benign, well-perfused vs ischemic. Those chemical differences are often invisible in RGB but visible in the full spectrum. Use cases include tumour margin assessment during surgery, where the surgeon needs to know in real time whether to cut here or there; endoscopic tissue classification; burn-depth estimation; skin cancer screening; and label-free histopathology. The overarching goal is non-invasive, label-free characterisation of tissue, in vivo.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Fluorescence is the physical process I exploit. Here's how it works in five steps. A high-energy photon (UV or short-visible) hits a molecule and gets absorbed. That kicks an electron up to a higher energy state. The molecule rapidly loses a little of that energy as vibration — heat — then the electron drops back down, releasing a NEW photon. Because of that vibrational loss, the emitted photon has less energy — longer wavelength — than the photon that excited it. This wavelength shift is called the Stokes shift. The signature of each fluorophore is the SHAPE of its emission curve. The right panel lists some biological fluorophores you can detect this way — NADH and flavins tell you about cellular metabolism, collagen and elastin about extracellular matrix, lipofuscin about aging. These are label-free contrast agents — the body provides them.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Single-excitation fluorescence HSI works like this. You shine a fixed-wavelength UV or blue light source on a biological sample. Some molecules absorb the light and re-emit fluorescence at longer wavelengths. A hyperspectral camera captures that emission at many wavelengths simultaneously. The output is a 3D data cube: two spatial dimensions and one emission-wavelength dimension. At every pixel you now have a full emission spectrum — a molecular fingerprint. Compared to RGB, you've gone from 3 colour channels to 20 or more channels of molecular information per pixel, and crucially this is label-free — you don't need to inject exogenous dyes. So single-excitation HSI already enables tissue typing, NADH-redox mapping, basic autofluorescence contrast. The question is: is that enough?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problem is that biology stacks fluorophores on top of each other. Collagen emits near 400 nanometers; elastin near 410; NADH near 460; lipofuscin tails through the same region. From the emission spectrum alone — one slice through this landscape — you often can't tell which fluorophore is responsible for a signal. But different fluorophores absorb at different wavelengths — they have different excitation profiles. Even if their emissions overlap, you can disambiguate them by exciting at different wavelengths and watching how the emission ratio changes. A single-excitation acquisition discards this information entirely. The fix — and the focus of this thesis — is to vary the excitation as well.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fix is multi-excitation HSI — ME-HSI. Instead of one fixed excitation, you sequentially acquire the same scene under MANY excitation wavelengths. Now each pixel has two spectral dimensions: emission as before, plus excitation. A single pixel's data is no longer a 1D curve — it's a 2D excitation-emission matrix, or EEM. Each fluorophore has a characteristic EEM signature; this is the gold-standard fluorescence fingerprint used in analytical chemistry. When two fluorophores overlap in emission, their EEM signatures still differ. The downside is data volume: for an 8-excitation by 24-emission acquisition, you get 192 spectral layers per pixel. For a megapixel image, that's nearly 200 million data points per frame.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ME-HSI is powerful but brings its own challenges. Data explosion is the first — 192-plus spectral layers per pixel translates to acquisition delays, storage, and computational cost. Acquisition is sequential — slow, not ideal for moving samples. Then there are physical artifacts: Rayleigh scattering at the excitation wavelength and its second-order harmonic create invalid bands that have to be masked out, leaving variable numbers of valid emission bands per excitation. Most of the remaining (excitation, emission) cells carry overlapping or redundant information. And critically, the JOINT structure between excitations — which is what makes ME-HSI valuable in the first place — is exactly what traditional 3D HSI band selection methods cannot see. So we need analytical tools designed for the 4D structure. That's the gap this thesis addresses.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band-selection literature is mature for 3D HSI, with four standard families: filter methods like variance and entropy ranking, wrapper methods like sequential forward selection or genetic algorithms, embedded methods like sparse LASSO and attention mechanisms, and deep methods like BS-Net. All have known issues though. Most assume a 3D input structure and treat bands independently — they don't model the joint (excitation, emission) structure distinctive to ME-HSI. And most either require labels or carry no task signal at all. There is no published method that's both unsupervised AND 4D-aware. That's the gap my thesis fills.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contributions are fourfold. First, architectural: a 3D convolutional autoencoder with parallel encoder branches per excitation. This handles the variable emission counts after Rayleigh cutoff cleanly, and excitation-averaging in the shared latent space captures the joint cross-excitation correlations. Second, methodological: a perturbation-based attribution that's essentially a finite-difference Jacobian of the reconstruction with respect to latent dimensions, combined with Maximum Marginal Relevance for diversity. Third, empirical evaluation on two distinct datasets — lichens, with four morphological classes, and collagen sponges, with three crosslinker concentration classes. Fourth, validation: I tested both the load-bearing nature of the selection (via 10,000 random comparison on lichens) and its classifier-family generalisability (via 10 downstream classifiers on collagen sponges). Together these answer the four reviewer-grade concerns about unsupervised band selection.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framework has three stages. Stage one is representation learning: the 3D CAE learns a 20-dimensional shared latent representation of the 4D cube. Stage two is attribution: I perturb each top latent dimension and measure the reconstruction sensitivity at each (excitation, emission) cell — this is a finite-difference approximation of the Jacobian. Stage three is selection: Maximum Marginal Relevance balances per-band relevance with diversity, outputting an ordered list of K bands. Critically, no labels enter any stage. The same pipeline applies to both datasets without changing a single hyperparameter.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 one in detail. The architecture is a 3D CAE with one parallel encoder branch per excitation wavelength. Each branch applies a 3D convolution with 20 filters; the kernel size is 5×5 spatially and min-of-5-or-Nem spectrally to handle the variable emission counts after Rayleigh cutoff. After adaptive pooling each excitation has a feature map of the same shape, and those are averaged into a shared 20-dimensional latent representation. The key design choice: parallel branches handle variable emission counts cleanly, and excitation averaging is what makes this 4D-aware. A monolithic kernel would need messy padding and masking. The decoder mirrors the encoder, and we train with masked MSE on 64×64 patches.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 two is the methodological core. The trained autoencoder has a compressed representation we can probe. I rank the top-k latent dimensions by variance or PCA loading. For each top dim, I perturb the code by plus and minus epsilon times sigma_d, decode both, and measure the reconstruction difference at every (excitation, emission) cell. This is essentially a finite-difference approximation of the Jacobian of the decoder with respect to that latent dim. Sum across dims weighted by their scores and you get the influence matrix. Crucially this is a CAUSAL attribution — it measures what the network actually depends on, not just what's variable. Variance ranking would miss low-variance but discriminative bands; perturbation finds them.</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 three is selection. If I just took the top-K by influence I'd get a cluster of highly correlated, adjacent bands. Instead I use Maximum Marginal Relevance, originally from the information-retrieval literature. MMR balances per-band relevance against diversity with a parameter lambda that controls the trade-off. Relevance is the normalized influence score; diversity is the cosine similarity between the spectral profiles at the two bands. Lambda = 0.5 gives a balanced result. Greedy iteration: pick K bands one at a time, each maximizing MMR over what hasn't been selected yet.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primary dataset is lichens. Lichens are composite organisms — fungus plus a photosynthetic partner — and their autofluorescence captures both components, which makes them a natural fluorescence test case. We acquired on a custom LED-based source paired with a Nuance FX hyperspectral camera. Eight excitation wavelengths from 310 to 430 nanometers, emission from 420 to 720 nanometers at 10 nm step. After Rayleigh cutoff we have 192 valid (excitation, emission) pairs. Four morphological classes; about 190,000 annotated pixels in a 1040 by 925 image. This is our primary benchmark.</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ground truth layout. 16 specimens arranged in a 4 by 4 grid where columns correspond to the 4 morphological classes. The small rectangular ROIs in the top row are the supervised training pixels — about 11,500 of them. The rest of each specimen is the test set, roughly 180,000 pixels. The ROIs are used only for the downstream KNN classifier that validates the selection — the selection pipeline itself sees no labels at any stage.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dataset is Collagen Sponges. These are collagen sponge samples at three different crosslinker concentrations — the crosslinker modulates the fibril organization, producing measurable shifts in emission peak position and intensity. The key question this dataset answers is whether the framework, tuned on lichen biology, transfers to a chemically distinct fluorophore family without modification. Six excitation channels were used instead of eight — the longer-UV excitations added negligible signal in preliminary tests. After Rayleigh cutoff we have 158 valid pairs — a different grid from Lichens, so the selection task is genuinely new. The image on the right shows the 3 by 3 specimen layout, with the small interior ROIs in the top row marking the supervised training pixels.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headline Lichens result — the accuracy envelope from the full 3,072-config sweep. Each shaded band shows the range of accuracies different attribution configurations achieve at that K, the solid black line is the mean, and the dashed green line is the best configuration at each K. The dashed red line is the 192-band baseline at 88.2 percent. The selected bands actually exceed the baseline across a wide range. At 80 bands we hit 95.2 percent — 7 percentage points above baseline at 58 percent data reduction. At 9 bands we still beat baseline at 89.4 percent with 95 percent data reduction. The curve actually PEAKS at intermediate K — using too many bands hurts classification because they add noise.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result visualized as classification maps. Each map shows the pixel-wise predicted class for the 16 specimens. The baseline uses all 192 bands at 88.2 percent — you can see some boundary noise. The 80-band selection at 95.2 percent has visibly cleaner spatial structure and sharper specimen boundaries. The 9-band selection at 89.4 percent is still visually competitive with the baseline despite using 95 percent less data. The visual confirmation matters — the framework isn't just numerically better, it produces spatially cleaner outputs.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validation: are these results just lucky? I sampled 10,000 random 13-band combinations from the 192 available and applied the same downstream classifier. The random distribution has a mean of 46.1 percent and a max of 57.9 percent. Our learned selection hits 90.2 percent — 12 standard deviations above the random mean. The p-value is vanishingly small. The framework is identifying genuinely informative bands, not lucky combinations.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heatmap shows mean wavelength importance across all above-baseline configurations. Bright cells are consistently top-ranked; dark cells are rarely selected. The hot region spans roughly 480 to 620 nanometers emission with excitations 325 to 400 doing most of the work. This matches what we know about lichen autofluorescence physics — chlorophyll and related fluorophores emit in this range. And importantly, the 9-band optimal configuration selects exactly ONE band per excitation source. That's directly actionable for sensor design: you could build a system with 9 filters, one per LED, and recover this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Collagen Sponges. Same pipeline, no retuning. The 158-band baseline is 79.8 percent. With just 5 bands we already exceed it at 80.9 percent. The peak is at 30 bands with 85.6 percent — 5.8 percentage points above baseline at 81 percent data reduction. Every K from 5 to 130 exceeds the baseline. This is important because it shows the framework transfers across sample chemistries — lichen and collagen autofluorescence have different fluorophore populations, but the same selection method works on both.</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wavelength importance heatmap structure as Lichens but for Collagen Sponges. Bright = consistently top-ranked across configurations. The hot region concentrates at 600 to 690 nanometers emission under 365 to 400 nanometer excitation. There's a secondary band at the short-wavelength edge across all excitations. This matches the chemistry: the long-wavelength region captures advanced glycation end-product cross-link emission, which scales with crosslinker concentration; the short-wave shoulder is native collagen fluorescence. Grey cells are Rayleigh-invalid positions.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 validation: classifier-family generalization. To test whether the gains depend on the specific KNN classifier used for scoring, I evaluated ten different classifiers on the same selection — two KNN variants, LDA, two SVM kernels, MLP, two Random Forest sizes, and Gradient Boosting. Nine of ten benefit from the selection. The most striking result: Linear Discriminant Analysis at K=50 hits 92.5 percent accuracy, which is within 0.3 percentage points of the 92.8 percent it achieves on all 158 bands. The linearly separable structure of the data is essentially preserved by the selection. The bands are intrinsically informative, not tuned to one classifier.</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 does this mean. Across both datasets, the selected wavelengths meet or exceed the full-spectrum baseline at 80 to 95 percent data reduction. Three reasons this works. First, perturbation gives a causal attribution — it measures what the network actually depends on, unlike variance which just measures variability. Second, the parallel-branch architecture with averaging is what makes this 4D-aware — it captures cross-excitation correlations that per-band methods miss. Third, MMR's diversity term prevents the kind of clustered selections that pure relevance-ranking produces. The same pipeline works on both datasets without retuning. The only meaningful per-dataset knob is the dimension-scoring strategy — Lichens prefers PCA with k=3, Collagen Sponges prefers variance with k=1.</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Honest limitations. First, computational cost: training plus the perturbation sweep takes about 2 hours on our RTX 4070 for Lichens. Seventy-five percent of that is the perturbation phase — which is embarrassingly parallel, and an optimised implementation could shave another 3x. The cost is one-time per sample type, and it's amortised over all downstream inferences — those are about 21 times faster at K=9. Second, the attribution is black-box in the chemical sense — perturbation tells which bands matter, not always why; mapping our selections to specific fluorophores still requires domain expertise. Third, the user has to specify K — we don't auto-detect the elbow. Fourth, dataset breadth: I evaluated on two ME-HSI fluorescence datasets here; extending to remote-sensing HSI is future work.</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The contribution: the first deep-learning wavelength selection method designed specifically for 4D ME-HSI. Three stages: a parallel-branch convolutional autoencoder, perturbation-based attribution, and MMR diversity. On Lichens, 95 percent accuracy with 80 of 192 bands, or 89 percent with just 9 of 192. On Collagen Sponges, 86 percent with 30 of 158 bands. Validated via two complementary procedures — random-baseline robustness on Lichens and ten-classifier generalization on Collagen Sponges. Future directions include larger datasets, automated K selection, fluorophore-level interpretation, and uncertainty quantification via variational autoencoders.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acknowledgment slide. All the conceptual / vision-biology / fluorescence-physics images used in the introduction are from Wikimedia Commons under Creative Commons licenses; the satellite image is NASA / USGS public domain. Project figures — the datasets, results, classification maps, accuracy envelopes, wavelength heatmaps — are all original work generated by the spectral-select pipeline. Full attribution table lives in the repository.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your attention. I'd be happy to take questions. Code is available on GitHub if anyone wants to look at the implementation; my email is on the slide for follow-up.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jpg"/><Relationship Id="rId4" Type="http://schemas.openxmlformats.org/officeDocument/2006/relationships/image" Target="../media/image5.jpg"/><Relationship Id="rId5" Type="http://schemas.openxmlformats.org/officeDocument/2006/relationships/image" Target="../media/image6.jpg"/><Relationship Id="rId6" Type="http://schemas.openxmlformats.org/officeDocument/2006/relationships/image" Target="../media/image7.jpg"/><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2.jp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si_cube.png"/>
          <p:cNvPicPr>
            <a:picLocks noChangeAspect="1"/>
          </p:cNvPicPr>
          <p:nvPr/>
        </p:nvPicPr>
        <p:blipFill>
          <a:blip r:embed="rId2"/>
          <a:stretch>
            <a:fillRect/>
          </a:stretch>
        </p:blipFill>
        <p:spPr>
          <a:xfrm>
            <a:off x="457200" y="1463040"/>
            <a:ext cx="2926080" cy="2849880"/>
          </a:xfrm>
          <a:prstGeom prst="rect">
            <a:avLst/>
          </a:prstGeom>
        </p:spPr>
      </p:pic>
      <p:pic>
        <p:nvPicPr>
          <p:cNvPr id="3" name="Picture 2" descr="fluorescent_minerals.jpg"/>
          <p:cNvPicPr>
            <a:picLocks noChangeAspect="1"/>
          </p:cNvPicPr>
          <p:nvPr/>
        </p:nvPicPr>
        <p:blipFill>
          <a:blip r:embed="rId3"/>
          <a:stretch>
            <a:fillRect/>
          </a:stretch>
        </p:blipFill>
        <p:spPr>
          <a:xfrm>
            <a:off x="8869680" y="1463040"/>
            <a:ext cx="2926080" cy="1886712"/>
          </a:xfrm>
          <a:prstGeom prst="rect">
            <a:avLst/>
          </a:prstGeom>
        </p:spPr>
      </p:pic>
      <p:sp>
        <p:nvSpPr>
          <p:cNvPr id="4" name="TextBox 3"/>
          <p:cNvSpPr txBox="1"/>
          <p:nvPr/>
        </p:nvSpPr>
        <p:spPr>
          <a:xfrm>
            <a:off x="3657600" y="1463040"/>
            <a:ext cx="4846320" cy="1097280"/>
          </a:xfrm>
          <a:prstGeom prst="rect">
            <a:avLst/>
          </a:prstGeom>
          <a:noFill/>
        </p:spPr>
        <p:txBody>
          <a:bodyPr wrap="square" anchor="t">
            <a:spAutoFit/>
          </a:bodyPr>
          <a:lstStyle/>
          <a:p>
            <a:pPr algn="ctr"/>
            <a:r>
              <a:rPr sz="2400" b="1" i="0">
                <a:solidFill>
                  <a:srgbClr val="1F4E79"/>
                </a:solidFill>
              </a:rPr>
              <a:t>Deep Learning for
Dimensionality Reduction in</a:t>
            </a:r>
          </a:p>
        </p:txBody>
      </p:sp>
      <p:sp>
        <p:nvSpPr>
          <p:cNvPr id="5" name="TextBox 4"/>
          <p:cNvSpPr txBox="1"/>
          <p:nvPr/>
        </p:nvSpPr>
        <p:spPr>
          <a:xfrm>
            <a:off x="3657600" y="2651760"/>
            <a:ext cx="4846320" cy="914400"/>
          </a:xfrm>
          <a:prstGeom prst="rect">
            <a:avLst/>
          </a:prstGeom>
          <a:noFill/>
        </p:spPr>
        <p:txBody>
          <a:bodyPr wrap="square" anchor="t">
            <a:spAutoFit/>
          </a:bodyPr>
          <a:lstStyle/>
          <a:p>
            <a:pPr algn="ctr"/>
            <a:r>
              <a:rPr sz="2400" b="1" i="0">
                <a:solidFill>
                  <a:srgbClr val="1F4E79"/>
                </a:solidFill>
              </a:rPr>
              <a:t>Multi-Excitation
Hyperspectral Imaging</a:t>
            </a:r>
          </a:p>
        </p:txBody>
      </p:sp>
      <p:sp>
        <p:nvSpPr>
          <p:cNvPr id="6" name="TextBox 5"/>
          <p:cNvSpPr txBox="1"/>
          <p:nvPr/>
        </p:nvSpPr>
        <p:spPr>
          <a:xfrm>
            <a:off x="457200" y="4114800"/>
            <a:ext cx="11247120" cy="457200"/>
          </a:xfrm>
          <a:prstGeom prst="rect">
            <a:avLst/>
          </a:prstGeom>
          <a:noFill/>
        </p:spPr>
        <p:txBody>
          <a:bodyPr wrap="square" anchor="t">
            <a:spAutoFit/>
          </a:bodyPr>
          <a:lstStyle/>
          <a:p>
            <a:pPr algn="ctr"/>
            <a:r>
              <a:rPr sz="2200" b="0" i="1">
                <a:solidFill>
                  <a:srgbClr val="333333"/>
                </a:solidFill>
              </a:rPr>
              <a:t>Master's Thesis Defense</a:t>
            </a:r>
          </a:p>
        </p:txBody>
      </p:sp>
      <p:sp>
        <p:nvSpPr>
          <p:cNvPr id="7" name="TextBox 6"/>
          <p:cNvSpPr txBox="1"/>
          <p:nvPr/>
        </p:nvSpPr>
        <p:spPr>
          <a:xfrm>
            <a:off x="457200" y="4846320"/>
            <a:ext cx="11247120" cy="457200"/>
          </a:xfrm>
          <a:prstGeom prst="rect">
            <a:avLst/>
          </a:prstGeom>
          <a:noFill/>
        </p:spPr>
        <p:txBody>
          <a:bodyPr wrap="square" anchor="t">
            <a:spAutoFit/>
          </a:bodyPr>
          <a:lstStyle/>
          <a:p>
            <a:pPr algn="ctr"/>
            <a:r>
              <a:rPr sz="2400" b="1" i="0">
                <a:solidFill>
                  <a:srgbClr val="333333"/>
                </a:solidFill>
              </a:rPr>
              <a:t>Narek Meloyan</a:t>
            </a:r>
          </a:p>
        </p:txBody>
      </p:sp>
      <p:sp>
        <p:nvSpPr>
          <p:cNvPr id="8" name="TextBox 7"/>
          <p:cNvSpPr txBox="1"/>
          <p:nvPr/>
        </p:nvSpPr>
        <p:spPr>
          <a:xfrm>
            <a:off x="457200" y="5349240"/>
            <a:ext cx="11247120" cy="365760"/>
          </a:xfrm>
          <a:prstGeom prst="rect">
            <a:avLst/>
          </a:prstGeom>
          <a:noFill/>
        </p:spPr>
        <p:txBody>
          <a:bodyPr wrap="square" anchor="t">
            <a:spAutoFit/>
          </a:bodyPr>
          <a:lstStyle/>
          <a:p>
            <a:pPr algn="ctr"/>
            <a:r>
              <a:rPr sz="1400" b="0" i="0">
                <a:solidFill>
                  <a:srgbClr val="888888"/>
                </a:solidFill>
              </a:rPr>
              <a:t>American University of Armenia · 2026</a:t>
            </a:r>
          </a:p>
        </p:txBody>
      </p:sp>
      <p:sp>
        <p:nvSpPr>
          <p:cNvPr id="9" name="TextBox 8"/>
          <p:cNvSpPr txBox="1"/>
          <p:nvPr/>
        </p:nvSpPr>
        <p:spPr>
          <a:xfrm>
            <a:off x="457200" y="5760720"/>
            <a:ext cx="11247120" cy="365760"/>
          </a:xfrm>
          <a:prstGeom prst="rect">
            <a:avLst/>
          </a:prstGeom>
          <a:noFill/>
        </p:spPr>
        <p:txBody>
          <a:bodyPr wrap="square" anchor="t">
            <a:spAutoFit/>
          </a:bodyPr>
          <a:lstStyle/>
          <a:p>
            <a:pPr algn="ctr"/>
            <a:r>
              <a:rPr sz="1300" b="0" i="1">
                <a:solidFill>
                  <a:srgbClr val="888888"/>
                </a:solidFill>
              </a:rPr>
              <a:t>Supervisor: Prof. Narine Sarvazyan</a:t>
            </a:r>
          </a:p>
        </p:txBody>
      </p:sp>
      <p:sp>
        <p:nvSpPr>
          <p:cNvPr id="10" name="TextBox 9"/>
          <p:cNvSpPr txBox="1"/>
          <p:nvPr/>
        </p:nvSpPr>
        <p:spPr>
          <a:xfrm>
            <a:off x="457200" y="6309360"/>
            <a:ext cx="11247120" cy="274320"/>
          </a:xfrm>
          <a:prstGeom prst="rect">
            <a:avLst/>
          </a:prstGeom>
          <a:noFill/>
        </p:spPr>
        <p:txBody>
          <a:bodyPr wrap="square" anchor="t">
            <a:spAutoFit/>
          </a:bodyPr>
          <a:lstStyle/>
          <a:p>
            <a:pPr algn="l"/>
            <a:r>
              <a:rPr sz="800" b="0" i="1">
                <a:solidFill>
                  <a:srgbClr val="888888"/>
                </a:solidFill>
              </a:rPr>
              <a:t>Image: Wikimedia Commons (CC BY-SA) — see credits slide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48640"/>
          </a:xfrm>
          <a:prstGeom prst="rect">
            <a:avLst/>
          </a:prstGeom>
          <a:noFill/>
        </p:spPr>
        <p:txBody>
          <a:bodyPr wrap="square" anchor="ctr">
            <a:spAutoFit/>
          </a:bodyPr>
          <a:lstStyle/>
          <a:p>
            <a:pPr algn="l"/>
            <a:r>
              <a:rPr sz="2600" b="1" i="0">
                <a:solidFill>
                  <a:srgbClr val="FFFFFF"/>
                </a:solidFill>
              </a:rPr>
              <a:t>Outline</a:t>
            </a:r>
          </a:p>
        </p:txBody>
      </p:sp>
      <p:sp>
        <p:nvSpPr>
          <p:cNvPr id="4" name="TextBox 3"/>
          <p:cNvSpPr txBox="1"/>
          <p:nvPr/>
        </p:nvSpPr>
        <p:spPr>
          <a:xfrm>
            <a:off x="1371600" y="1280160"/>
            <a:ext cx="9144000" cy="5029200"/>
          </a:xfrm>
          <a:prstGeom prst="rect">
            <a:avLst/>
          </a:prstGeom>
          <a:noFill/>
        </p:spPr>
        <p:txBody>
          <a:bodyPr wrap="square">
            <a:spAutoFit/>
          </a:bodyPr>
          <a:lstStyle/>
          <a:p>
            <a:pPr algn="l">
              <a:spcAft>
                <a:spcPts val="600"/>
              </a:spcAft>
            </a:pPr>
            <a:r>
              <a:rPr sz="2000">
                <a:solidFill>
                  <a:srgbClr val="333333"/>
                </a:solidFill>
              </a:rPr>
              <a:t>• 1. From human vision to hyperspectral imaging</a:t>
            </a:r>
          </a:p>
          <a:p>
            <a:pPr algn="l">
              <a:spcAft>
                <a:spcPts val="600"/>
              </a:spcAft>
            </a:pPr>
            <a:r>
              <a:rPr sz="2000">
                <a:solidFill>
                  <a:srgbClr val="333333"/>
                </a:solidFill>
              </a:rPr>
              <a:t>• 2. HSI in the biomedical setting</a:t>
            </a:r>
          </a:p>
          <a:p>
            <a:pPr algn="l">
              <a:spcAft>
                <a:spcPts val="600"/>
              </a:spcAft>
            </a:pPr>
            <a:r>
              <a:rPr sz="2000">
                <a:solidFill>
                  <a:srgbClr val="333333"/>
                </a:solidFill>
              </a:rPr>
              <a:t>• 3. Fluorescence: what it is, how we capture it</a:t>
            </a:r>
          </a:p>
          <a:p>
            <a:pPr algn="l">
              <a:spcAft>
                <a:spcPts val="600"/>
              </a:spcAft>
            </a:pPr>
            <a:r>
              <a:rPr sz="2000">
                <a:solidFill>
                  <a:srgbClr val="333333"/>
                </a:solidFill>
              </a:rPr>
              <a:t>• 4. Why single-excitation fluorescence HSI is not enough</a:t>
            </a:r>
          </a:p>
          <a:p>
            <a:pPr algn="l">
              <a:spcAft>
                <a:spcPts val="600"/>
              </a:spcAft>
            </a:pPr>
            <a:r>
              <a:rPr sz="2000">
                <a:solidFill>
                  <a:srgbClr val="333333"/>
                </a:solidFill>
              </a:rPr>
              <a:t>• 5. ME-HSI: the 4D extension, and its own challenges</a:t>
            </a:r>
          </a:p>
          <a:p>
            <a:pPr algn="l">
              <a:spcAft>
                <a:spcPts val="600"/>
              </a:spcAft>
            </a:pPr>
            <a:r>
              <a:rPr sz="2000">
                <a:solidFill>
                  <a:srgbClr val="333333"/>
                </a:solidFill>
              </a:rPr>
              <a:t>• 6. Existing band-selection methods and why they fall short</a:t>
            </a:r>
          </a:p>
          <a:p>
            <a:pPr algn="l">
              <a:spcAft>
                <a:spcPts val="600"/>
              </a:spcAft>
            </a:pPr>
            <a:r>
              <a:rPr sz="2000">
                <a:solidFill>
                  <a:srgbClr val="333333"/>
                </a:solidFill>
              </a:rPr>
              <a:t>• 7. The proposed framework: 3D CAE + perturbation + MMR</a:t>
            </a:r>
          </a:p>
          <a:p>
            <a:pPr algn="l">
              <a:spcAft>
                <a:spcPts val="600"/>
              </a:spcAft>
            </a:pPr>
            <a:r>
              <a:rPr sz="2000">
                <a:solidFill>
                  <a:srgbClr val="333333"/>
                </a:solidFill>
              </a:rPr>
              <a:t>• 8. Two datasets: Lichens and Collagen Sponges</a:t>
            </a:r>
          </a:p>
          <a:p>
            <a:pPr algn="l">
              <a:spcAft>
                <a:spcPts val="600"/>
              </a:spcAft>
            </a:pPr>
            <a:r>
              <a:rPr sz="2000">
                <a:solidFill>
                  <a:srgbClr val="333333"/>
                </a:solidFill>
              </a:rPr>
              <a:t>• 9. Results &amp; validation</a:t>
            </a:r>
          </a:p>
          <a:p>
            <a:pPr algn="l">
              <a:spcAft>
                <a:spcPts val="600"/>
              </a:spcAft>
            </a:pPr>
            <a:r>
              <a:rPr sz="2000">
                <a:solidFill>
                  <a:srgbClr val="333333"/>
                </a:solidFill>
              </a:rPr>
              <a:t>• 10. Discussion, limitations, conclusion</a:t>
            </a:r>
          </a:p>
        </p:txBody>
      </p:sp>
      <p:sp>
        <p:nvSpPr>
          <p:cNvPr id="5" name="TextBox 4"/>
          <p:cNvSpPr txBox="1"/>
          <p:nvPr/>
        </p:nvSpPr>
        <p:spPr>
          <a:xfrm>
            <a:off x="365760" y="6492240"/>
            <a:ext cx="6400800" cy="274320"/>
          </a:xfrm>
          <a:prstGeom prst="rect">
            <a:avLst/>
          </a:prstGeom>
          <a:noFill/>
        </p:spPr>
        <p:txBody>
          <a:bodyPr wrap="square" anchor="t">
            <a:spAutoFit/>
          </a:bodyPr>
          <a:lstStyle/>
          <a:p>
            <a:pPr algn="l"/>
            <a:r>
              <a:rPr sz="900" b="0" i="1">
                <a:solidFill>
                  <a:srgbClr val="888888"/>
                </a:solidFill>
              </a:rPr>
              <a:t>Master's Thesis Defense — Narek Meloyan — 2026</a:t>
            </a:r>
          </a:p>
        </p:txBody>
      </p:sp>
      <p:sp>
        <p:nvSpPr>
          <p:cNvPr id="6" name="TextBox 5"/>
          <p:cNvSpPr txBox="1"/>
          <p:nvPr/>
        </p:nvSpPr>
        <p:spPr>
          <a:xfrm>
            <a:off x="11155680" y="6492240"/>
            <a:ext cx="731520" cy="274320"/>
          </a:xfrm>
          <a:prstGeom prst="rect">
            <a:avLst/>
          </a:prstGeom>
          <a:noFill/>
        </p:spPr>
        <p:txBody>
          <a:bodyPr wrap="square" anchor="t">
            <a:spAutoFit/>
          </a:bodyPr>
          <a:lstStyle/>
          <a:p>
            <a:pPr algn="r"/>
            <a:r>
              <a:rPr sz="900" b="0" i="0">
                <a:solidFill>
                  <a:srgbClr val="888888"/>
                </a:solidFill>
              </a:rPr>
              <a:t>2 / 31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48640"/>
          </a:xfrm>
          <a:prstGeom prst="rect">
            <a:avLst/>
          </a:prstGeom>
          <a:noFill/>
        </p:spPr>
        <p:txBody>
          <a:bodyPr wrap="square" anchor="ctr">
            <a:spAutoFit/>
          </a:bodyPr>
          <a:lstStyle/>
          <a:p>
            <a:pPr algn="l"/>
            <a:r>
              <a:rPr sz="2600" b="1" i="0">
                <a:solidFill>
                  <a:srgbClr val="FFFFFF"/>
                </a:solidFill>
              </a:rPr>
              <a:t>How we see — and how we don't</a:t>
            </a:r>
          </a:p>
        </p:txBody>
      </p:sp>
      <p:pic>
        <p:nvPicPr>
          <p:cNvPr id="4" name="Picture 3" descr="honeybee.jpg"/>
          <p:cNvPicPr>
            <a:picLocks noChangeAspect="1"/>
          </p:cNvPicPr>
          <p:nvPr/>
        </p:nvPicPr>
        <p:blipFill>
          <a:blip r:embed="rId2"/>
          <a:stretch>
            <a:fillRect/>
          </a:stretch>
        </p:blipFill>
        <p:spPr>
          <a:xfrm>
            <a:off x="365760" y="1051560"/>
            <a:ext cx="2788920" cy="2103120"/>
          </a:xfrm>
          <a:prstGeom prst="rect">
            <a:avLst/>
          </a:prstGeom>
        </p:spPr>
      </p:pic>
      <p:sp>
        <p:nvSpPr>
          <p:cNvPr id="5" name="Rectangle 4"/>
          <p:cNvSpPr/>
          <p:nvPr/>
        </p:nvSpPr>
        <p:spPr>
          <a:xfrm>
            <a:off x="365760" y="3200400"/>
            <a:ext cx="2788920" cy="45720"/>
          </a:xfrm>
          <a:prstGeom prst="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3291840"/>
            <a:ext cx="2788920" cy="365760"/>
          </a:xfrm>
          <a:prstGeom prst="rect">
            <a:avLst/>
          </a:prstGeom>
          <a:noFill/>
        </p:spPr>
        <p:txBody>
          <a:bodyPr wrap="square" anchor="t">
            <a:spAutoFit/>
          </a:bodyPr>
          <a:lstStyle/>
          <a:p>
            <a:pPr algn="ctr"/>
            <a:r>
              <a:rPr sz="1600" b="1" i="0">
                <a:solidFill>
                  <a:srgbClr val="2E8B57"/>
                </a:solidFill>
              </a:rPr>
              <a:t>Honeybee</a:t>
            </a:r>
          </a:p>
        </p:txBody>
      </p:sp>
      <p:sp>
        <p:nvSpPr>
          <p:cNvPr id="7" name="TextBox 6"/>
          <p:cNvSpPr txBox="1"/>
          <p:nvPr/>
        </p:nvSpPr>
        <p:spPr>
          <a:xfrm>
            <a:off x="365760" y="3703320"/>
            <a:ext cx="2788920" cy="1005840"/>
          </a:xfrm>
          <a:prstGeom prst="rect">
            <a:avLst/>
          </a:prstGeom>
          <a:noFill/>
        </p:spPr>
        <p:txBody>
          <a:bodyPr wrap="square" anchor="t">
            <a:spAutoFit/>
          </a:bodyPr>
          <a:lstStyle/>
          <a:p>
            <a:pPr algn="ctr"/>
            <a:r>
              <a:rPr sz="1200" b="0" i="0">
                <a:solidFill>
                  <a:srgbClr val="333333"/>
                </a:solidFill>
              </a:rPr>
              <a:t>3 cones (UV, blue, green)
sees UV patterns</a:t>
            </a:r>
          </a:p>
        </p:txBody>
      </p:sp>
      <p:pic>
        <p:nvPicPr>
          <p:cNvPr id="8" name="Picture 7" descr="monarch_butterfly.jpg"/>
          <p:cNvPicPr>
            <a:picLocks noChangeAspect="1"/>
          </p:cNvPicPr>
          <p:nvPr/>
        </p:nvPicPr>
        <p:blipFill>
          <a:blip r:embed="rId3"/>
          <a:stretch>
            <a:fillRect/>
          </a:stretch>
        </p:blipFill>
        <p:spPr>
          <a:xfrm>
            <a:off x="3337560" y="1051560"/>
            <a:ext cx="2788920" cy="2103120"/>
          </a:xfrm>
          <a:prstGeom prst="rect">
            <a:avLst/>
          </a:prstGeom>
        </p:spPr>
      </p:pic>
      <p:sp>
        <p:nvSpPr>
          <p:cNvPr id="9" name="Rectangle 8"/>
          <p:cNvSpPr/>
          <p:nvPr/>
        </p:nvSpPr>
        <p:spPr>
          <a:xfrm>
            <a:off x="3337560" y="3200400"/>
            <a:ext cx="2788920" cy="4572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37560" y="3291840"/>
            <a:ext cx="2788920" cy="365760"/>
          </a:xfrm>
          <a:prstGeom prst="rect">
            <a:avLst/>
          </a:prstGeom>
          <a:noFill/>
        </p:spPr>
        <p:txBody>
          <a:bodyPr wrap="square" anchor="t">
            <a:spAutoFit/>
          </a:bodyPr>
          <a:lstStyle/>
          <a:p>
            <a:pPr algn="ctr"/>
            <a:r>
              <a:rPr sz="1600" b="1" i="0">
                <a:solidFill>
                  <a:srgbClr val="C8102E"/>
                </a:solidFill>
              </a:rPr>
              <a:t>Butterfly</a:t>
            </a:r>
          </a:p>
        </p:txBody>
      </p:sp>
      <p:sp>
        <p:nvSpPr>
          <p:cNvPr id="11" name="TextBox 10"/>
          <p:cNvSpPr txBox="1"/>
          <p:nvPr/>
        </p:nvSpPr>
        <p:spPr>
          <a:xfrm>
            <a:off x="3337560" y="3703320"/>
            <a:ext cx="2788920" cy="1005840"/>
          </a:xfrm>
          <a:prstGeom prst="rect">
            <a:avLst/>
          </a:prstGeom>
          <a:noFill/>
        </p:spPr>
        <p:txBody>
          <a:bodyPr wrap="square" anchor="t">
            <a:spAutoFit/>
          </a:bodyPr>
          <a:lstStyle/>
          <a:p>
            <a:pPr algn="ctr"/>
            <a:r>
              <a:rPr sz="1200" b="0" i="0">
                <a:solidFill>
                  <a:srgbClr val="333333"/>
                </a:solidFill>
              </a:rPr>
              <a:t>5 – 9 photoreceptors
broad spectral range</a:t>
            </a:r>
          </a:p>
        </p:txBody>
      </p:sp>
      <p:pic>
        <p:nvPicPr>
          <p:cNvPr id="12" name="Picture 11" descr="mantis_full.jpg"/>
          <p:cNvPicPr>
            <a:picLocks noChangeAspect="1"/>
          </p:cNvPicPr>
          <p:nvPr/>
        </p:nvPicPr>
        <p:blipFill>
          <a:blip r:embed="rId4"/>
          <a:stretch>
            <a:fillRect/>
          </a:stretch>
        </p:blipFill>
        <p:spPr>
          <a:xfrm>
            <a:off x="6309360" y="1051560"/>
            <a:ext cx="2788920" cy="2103120"/>
          </a:xfrm>
          <a:prstGeom prst="rect">
            <a:avLst/>
          </a:prstGeom>
        </p:spPr>
      </p:pic>
      <p:sp>
        <p:nvSpPr>
          <p:cNvPr id="13" name="Rectangle 12"/>
          <p:cNvSpPr/>
          <p:nvPr/>
        </p:nvSpPr>
        <p:spPr>
          <a:xfrm>
            <a:off x="6309360" y="3200400"/>
            <a:ext cx="2788920" cy="45720"/>
          </a:xfrm>
          <a:prstGeom prst="rect">
            <a:avLst/>
          </a:prstGeom>
          <a:solidFill>
            <a:srgbClr val="1F7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9360" y="3291840"/>
            <a:ext cx="2788920" cy="365760"/>
          </a:xfrm>
          <a:prstGeom prst="rect">
            <a:avLst/>
          </a:prstGeom>
          <a:noFill/>
        </p:spPr>
        <p:txBody>
          <a:bodyPr wrap="square" anchor="t">
            <a:spAutoFit/>
          </a:bodyPr>
          <a:lstStyle/>
          <a:p>
            <a:pPr algn="ctr"/>
            <a:r>
              <a:rPr sz="1600" b="1" i="0">
                <a:solidFill>
                  <a:srgbClr val="1F77B4"/>
                </a:solidFill>
              </a:rPr>
              <a:t>Mantis shrimp</a:t>
            </a:r>
          </a:p>
        </p:txBody>
      </p:sp>
      <p:sp>
        <p:nvSpPr>
          <p:cNvPr id="15" name="TextBox 14"/>
          <p:cNvSpPr txBox="1"/>
          <p:nvPr/>
        </p:nvSpPr>
        <p:spPr>
          <a:xfrm>
            <a:off x="6309360" y="3703320"/>
            <a:ext cx="2788920" cy="1005840"/>
          </a:xfrm>
          <a:prstGeom prst="rect">
            <a:avLst/>
          </a:prstGeom>
          <a:noFill/>
        </p:spPr>
        <p:txBody>
          <a:bodyPr wrap="square" anchor="t">
            <a:spAutoFit/>
          </a:bodyPr>
          <a:lstStyle/>
          <a:p>
            <a:pPr algn="ctr"/>
            <a:r>
              <a:rPr sz="1200" b="0" i="0">
                <a:solidFill>
                  <a:srgbClr val="333333"/>
                </a:solidFill>
              </a:rPr>
              <a:t>12 – 16 photoreceptors
+ polarisation</a:t>
            </a:r>
          </a:p>
        </p:txBody>
      </p:sp>
      <p:pic>
        <p:nvPicPr>
          <p:cNvPr id="16" name="Picture 15" descr="hsi_cube_alt.jpg"/>
          <p:cNvPicPr>
            <a:picLocks noChangeAspect="1"/>
          </p:cNvPicPr>
          <p:nvPr/>
        </p:nvPicPr>
        <p:blipFill>
          <a:blip r:embed="rId5"/>
          <a:stretch>
            <a:fillRect/>
          </a:stretch>
        </p:blipFill>
        <p:spPr>
          <a:xfrm>
            <a:off x="9281160" y="1051560"/>
            <a:ext cx="2788920" cy="2103120"/>
          </a:xfrm>
          <a:prstGeom prst="rect">
            <a:avLst/>
          </a:prstGeom>
        </p:spPr>
      </p:pic>
      <p:sp>
        <p:nvSpPr>
          <p:cNvPr id="17" name="Rectangle 16"/>
          <p:cNvSpPr/>
          <p:nvPr/>
        </p:nvSpPr>
        <p:spPr>
          <a:xfrm>
            <a:off x="9281160" y="3200400"/>
            <a:ext cx="2788920" cy="457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81160" y="3291840"/>
            <a:ext cx="2788920" cy="365760"/>
          </a:xfrm>
          <a:prstGeom prst="rect">
            <a:avLst/>
          </a:prstGeom>
          <a:noFill/>
        </p:spPr>
        <p:txBody>
          <a:bodyPr wrap="square" anchor="t">
            <a:spAutoFit/>
          </a:bodyPr>
          <a:lstStyle/>
          <a:p>
            <a:pPr algn="ctr"/>
            <a:r>
              <a:rPr sz="1600" b="1" i="0">
                <a:solidFill>
                  <a:srgbClr val="1F4E79"/>
                </a:solidFill>
              </a:rPr>
              <a:t>Hyperspectral camera</a:t>
            </a:r>
          </a:p>
        </p:txBody>
      </p:sp>
      <p:sp>
        <p:nvSpPr>
          <p:cNvPr id="19" name="TextBox 18"/>
          <p:cNvSpPr txBox="1"/>
          <p:nvPr/>
        </p:nvSpPr>
        <p:spPr>
          <a:xfrm>
            <a:off x="9281160" y="3703320"/>
            <a:ext cx="2788920" cy="1005840"/>
          </a:xfrm>
          <a:prstGeom prst="rect">
            <a:avLst/>
          </a:prstGeom>
          <a:noFill/>
        </p:spPr>
        <p:txBody>
          <a:bodyPr wrap="square" anchor="t">
            <a:spAutoFit/>
          </a:bodyPr>
          <a:lstStyle/>
          <a:p>
            <a:pPr algn="ctr"/>
            <a:r>
              <a:rPr sz="1200" b="0" i="0">
                <a:solidFill>
                  <a:srgbClr val="333333"/>
                </a:solidFill>
              </a:rPr>
              <a:t>100 – 300+ channels
continuous spectrum</a:t>
            </a:r>
          </a:p>
        </p:txBody>
      </p:sp>
      <p:pic>
        <p:nvPicPr>
          <p:cNvPr id="20" name="Picture 19" descr="em_spectrum.jpg"/>
          <p:cNvPicPr>
            <a:picLocks noChangeAspect="1"/>
          </p:cNvPicPr>
          <p:nvPr/>
        </p:nvPicPr>
        <p:blipFill>
          <a:blip r:embed="rId6"/>
          <a:stretch>
            <a:fillRect/>
          </a:stretch>
        </p:blipFill>
        <p:spPr>
          <a:xfrm>
            <a:off x="1828800" y="4754880"/>
            <a:ext cx="8503920" cy="4065937"/>
          </a:xfrm>
          <a:prstGeom prst="rect">
            <a:avLst/>
          </a:prstGeom>
        </p:spPr>
      </p:pic>
      <p:sp>
        <p:nvSpPr>
          <p:cNvPr id="21" name="TextBox 20"/>
          <p:cNvSpPr txBox="1"/>
          <p:nvPr/>
        </p:nvSpPr>
        <p:spPr>
          <a:xfrm>
            <a:off x="640080" y="6080760"/>
            <a:ext cx="10972800" cy="365760"/>
          </a:xfrm>
          <a:prstGeom prst="rect">
            <a:avLst/>
          </a:prstGeom>
          <a:noFill/>
        </p:spPr>
        <p:txBody>
          <a:bodyPr wrap="square" anchor="t">
            <a:spAutoFit/>
          </a:bodyPr>
          <a:lstStyle/>
          <a:p>
            <a:pPr algn="ctr"/>
            <a:r>
              <a:rPr sz="1200" b="0" i="1">
                <a:solidFill>
                  <a:srgbClr val="333333"/>
                </a:solidFill>
              </a:rPr>
              <a:t>More channels → more discrimination. A hyperspectral camera is to colour vision what colour vision is to greyscale.</a:t>
            </a:r>
          </a:p>
        </p:txBody>
      </p:sp>
      <p:sp>
        <p:nvSpPr>
          <p:cNvPr id="22" name="TextBox 21"/>
          <p:cNvSpPr txBox="1"/>
          <p:nvPr/>
        </p:nvSpPr>
        <p:spPr>
          <a:xfrm>
            <a:off x="365760" y="6446520"/>
            <a:ext cx="11430000" cy="274320"/>
          </a:xfrm>
          <a:prstGeom prst="rect">
            <a:avLst/>
          </a:prstGeom>
          <a:noFill/>
        </p:spPr>
        <p:txBody>
          <a:bodyPr wrap="square" anchor="t">
            <a:spAutoFit/>
          </a:bodyPr>
          <a:lstStyle/>
          <a:p>
            <a:pPr algn="l"/>
            <a:r>
              <a:rPr sz="800" b="0" i="1">
                <a:solidFill>
                  <a:srgbClr val="888888"/>
                </a:solidFill>
              </a:rPr>
              <a:t>Image: Photos: Wikimedia Commons CC BY-SA — see credits slide</a:t>
            </a:r>
          </a:p>
        </p:txBody>
      </p:sp>
      <p:sp>
        <p:nvSpPr>
          <p:cNvPr id="23" name="TextBox 22"/>
          <p:cNvSpPr txBox="1"/>
          <p:nvPr/>
        </p:nvSpPr>
        <p:spPr>
          <a:xfrm>
            <a:off x="365760" y="6492240"/>
            <a:ext cx="6400800" cy="274320"/>
          </a:xfrm>
          <a:prstGeom prst="rect">
            <a:avLst/>
          </a:prstGeom>
          <a:noFill/>
        </p:spPr>
        <p:txBody>
          <a:bodyPr wrap="square" anchor="t">
            <a:spAutoFit/>
          </a:bodyPr>
          <a:lstStyle/>
          <a:p>
            <a:pPr algn="l"/>
            <a:r>
              <a:rPr sz="900" b="0" i="1">
                <a:solidFill>
                  <a:srgbClr val="888888"/>
                </a:solidFill>
              </a:rPr>
              <a:t>Master's Thesis Defense — Narek Meloyan — 2026</a:t>
            </a:r>
          </a:p>
        </p:txBody>
      </p:sp>
      <p:sp>
        <p:nvSpPr>
          <p:cNvPr id="24" name="TextBox 23"/>
          <p:cNvSpPr txBox="1"/>
          <p:nvPr/>
        </p:nvSpPr>
        <p:spPr>
          <a:xfrm>
            <a:off x="11155680" y="6492240"/>
            <a:ext cx="731520" cy="274320"/>
          </a:xfrm>
          <a:prstGeom prst="rect">
            <a:avLst/>
          </a:prstGeom>
          <a:noFill/>
        </p:spPr>
        <p:txBody>
          <a:bodyPr wrap="square" anchor="t">
            <a:spAutoFit/>
          </a:bodyPr>
          <a:lstStyle/>
          <a:p>
            <a:pPr algn="r"/>
            <a:r>
              <a:rPr sz="900" b="0" i="0">
                <a:solidFill>
                  <a:srgbClr val="888888"/>
                </a:solidFill>
              </a:rPr>
              <a:t>3 / 31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48640"/>
          </a:xfrm>
          <a:prstGeom prst="rect">
            <a:avLst/>
          </a:prstGeom>
          <a:noFill/>
        </p:spPr>
        <p:txBody>
          <a:bodyPr wrap="square" anchor="ctr">
            <a:spAutoFit/>
          </a:bodyPr>
          <a:lstStyle/>
          <a:p>
            <a:pPr algn="l"/>
            <a:r>
              <a:rPr sz="2600" b="1" i="0">
                <a:solidFill>
                  <a:srgbClr val="FFFFFF"/>
                </a:solidFill>
              </a:rPr>
              <a:t>What hyperspectral imaging buys you</a:t>
            </a:r>
          </a:p>
        </p:txBody>
      </p:sp>
      <p:sp>
        <p:nvSpPr>
          <p:cNvPr id="4" name="TextBox 3"/>
          <p:cNvSpPr txBox="1"/>
          <p:nvPr/>
        </p:nvSpPr>
        <p:spPr>
          <a:xfrm>
            <a:off x="365760" y="1005840"/>
            <a:ext cx="4846320" cy="457200"/>
          </a:xfrm>
          <a:prstGeom prst="rect">
            <a:avLst/>
          </a:prstGeom>
          <a:noFill/>
        </p:spPr>
        <p:txBody>
          <a:bodyPr wrap="square" anchor="t">
            <a:spAutoFit/>
          </a:bodyPr>
          <a:lstStyle/>
          <a:p>
            <a:pPr algn="l"/>
            <a:r>
              <a:rPr sz="1600" b="1" i="0">
                <a:solidFill>
                  <a:srgbClr val="1F4E79"/>
                </a:solidFill>
              </a:rPr>
              <a:t>Applications across science and industry</a:t>
            </a:r>
          </a:p>
        </p:txBody>
      </p:sp>
      <p:sp>
        <p:nvSpPr>
          <p:cNvPr id="5" name="TextBox 4"/>
          <p:cNvSpPr txBox="1"/>
          <p:nvPr/>
        </p:nvSpPr>
        <p:spPr>
          <a:xfrm>
            <a:off x="365760" y="1463040"/>
            <a:ext cx="4846320" cy="5029200"/>
          </a:xfrm>
          <a:prstGeom prst="rect">
            <a:avLst/>
          </a:prstGeom>
          <a:noFill/>
        </p:spPr>
        <p:txBody>
          <a:bodyPr wrap="square">
            <a:spAutoFit/>
          </a:bodyPr>
          <a:lstStyle/>
          <a:p>
            <a:pPr algn="l">
              <a:spcAft>
                <a:spcPts val="600"/>
              </a:spcAft>
            </a:pPr>
            <a:r>
              <a:rPr sz="1300">
                <a:solidFill>
                  <a:srgbClr val="333333"/>
                </a:solidFill>
              </a:rPr>
              <a:t>• Remote sensing: mineralogy, vegetation, water quality</a:t>
            </a:r>
          </a:p>
          <a:p>
            <a:pPr algn="l">
              <a:spcAft>
                <a:spcPts val="600"/>
              </a:spcAft>
            </a:pPr>
            <a:r>
              <a:rPr sz="1300">
                <a:solidFill>
                  <a:srgbClr val="333333"/>
                </a:solidFill>
              </a:rPr>
              <a:t>• Agriculture: ripeness, disease, soil moisture</a:t>
            </a:r>
          </a:p>
          <a:p>
            <a:pPr algn="l">
              <a:spcAft>
                <a:spcPts val="600"/>
              </a:spcAft>
            </a:pPr>
            <a:r>
              <a:rPr sz="1300">
                <a:solidFill>
                  <a:srgbClr val="333333"/>
                </a:solidFill>
              </a:rPr>
              <a:t>• Food industry: contamination, freshness, fraud</a:t>
            </a:r>
          </a:p>
          <a:p>
            <a:pPr algn="l">
              <a:spcAft>
                <a:spcPts val="600"/>
              </a:spcAft>
            </a:pPr>
            <a:r>
              <a:rPr sz="1300">
                <a:solidFill>
                  <a:srgbClr val="333333"/>
                </a:solidFill>
              </a:rPr>
              <a:t>• Art conservation: pigment ID, hidden layers</a:t>
            </a:r>
          </a:p>
          <a:p>
            <a:pPr algn="l">
              <a:spcAft>
                <a:spcPts val="600"/>
              </a:spcAft>
            </a:pPr>
            <a:r>
              <a:rPr sz="1300">
                <a:solidFill>
                  <a:srgbClr val="333333"/>
                </a:solidFill>
              </a:rPr>
              <a:t>• Pharmaceutical: powder homogeneity, tablet QA</a:t>
            </a:r>
          </a:p>
          <a:p>
            <a:pPr algn="l">
              <a:spcAft>
                <a:spcPts val="600"/>
              </a:spcAft>
            </a:pPr>
            <a:r>
              <a:rPr sz="1300">
                <a:solidFill>
                  <a:srgbClr val="333333"/>
                </a:solidFill>
              </a:rPr>
              <a:t>• Defence: camouflage detection</a:t>
            </a:r>
          </a:p>
          <a:p>
            <a:pPr algn="l">
              <a:spcAft>
                <a:spcPts val="600"/>
              </a:spcAft>
            </a:pPr>
            <a:r>
              <a:rPr sz="1300">
                <a:solidFill>
                  <a:srgbClr val="333333"/>
                </a:solidFill>
              </a:rPr>
              <a:t>• Forensics: trace evidence, fingerprints</a:t>
            </a:r>
          </a:p>
          <a:p>
            <a:pPr algn="l">
              <a:spcAft>
                <a:spcPts val="600"/>
              </a:spcAft>
            </a:pPr>
            <a:r>
              <a:rPr sz="1300">
                <a:solidFill>
                  <a:srgbClr val="333333"/>
                </a:solidFill>
              </a:rPr>
              <a:t>• Biomedicine: tissue classification, surgical guidance</a:t>
            </a:r>
          </a:p>
        </p:txBody>
      </p:sp>
      <p:pic>
        <p:nvPicPr>
          <p:cNvPr id="6" name="Picture 5" descr="landsat_ethiopia.jpg"/>
          <p:cNvPicPr>
            <a:picLocks noChangeAspect="1"/>
          </p:cNvPicPr>
          <p:nvPr/>
        </p:nvPicPr>
        <p:blipFill>
          <a:blip r:embed="rId2"/>
          <a:stretch>
            <a:fillRect/>
          </a:stretch>
        </p:blipFill>
        <p:spPr>
          <a:xfrm>
            <a:off x="5394960" y="1005840"/>
            <a:ext cx="3291840" cy="2976372"/>
          </a:xfrm>
          <a:prstGeom prst="rect">
            <a:avLst/>
          </a:prstGeom>
        </p:spPr>
      </p:pic>
      <p:sp>
        <p:nvSpPr>
          <p:cNvPr id="7" name="TextBox 6"/>
          <p:cNvSpPr txBox="1"/>
          <p:nvPr/>
        </p:nvSpPr>
        <p:spPr>
          <a:xfrm>
            <a:off x="5394960" y="4297680"/>
            <a:ext cx="3291840" cy="365760"/>
          </a:xfrm>
          <a:prstGeom prst="rect">
            <a:avLst/>
          </a:prstGeom>
          <a:noFill/>
        </p:spPr>
        <p:txBody>
          <a:bodyPr wrap="square" anchor="t">
            <a:spAutoFit/>
          </a:bodyPr>
          <a:lstStyle/>
          <a:p>
            <a:pPr algn="ctr"/>
            <a:r>
              <a:rPr sz="1100" b="0" i="1">
                <a:solidFill>
                  <a:srgbClr val="888888"/>
                </a:solidFill>
              </a:rPr>
              <a:t>Landsat-5 false-colour (Ethiopia)
Vegetation = red, water = blue</a:t>
            </a:r>
          </a:p>
        </p:txBody>
      </p:sp>
      <p:sp>
        <p:nvSpPr>
          <p:cNvPr id="8" name="Rounded Rectangle 7"/>
          <p:cNvSpPr/>
          <p:nvPr/>
        </p:nvSpPr>
        <p:spPr>
          <a:xfrm>
            <a:off x="8869680" y="1005840"/>
            <a:ext cx="3108960" cy="5120640"/>
          </a:xfrm>
          <a:prstGeom prst="roundRect">
            <a:avLst/>
          </a:prstGeom>
          <a:solidFill>
            <a:srgbClr val="F4F6FA"/>
          </a:solidFill>
          <a:ln w="15240">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06840" y="1143000"/>
            <a:ext cx="2880360" cy="457200"/>
          </a:xfrm>
          <a:prstGeom prst="rect">
            <a:avLst/>
          </a:prstGeom>
          <a:noFill/>
        </p:spPr>
        <p:txBody>
          <a:bodyPr wrap="square" anchor="t">
            <a:spAutoFit/>
          </a:bodyPr>
          <a:lstStyle/>
          <a:p>
            <a:pPr algn="l"/>
            <a:r>
              <a:rPr sz="1500" b="1" i="0">
                <a:solidFill>
                  <a:srgbClr val="1F4E79"/>
                </a:solidFill>
              </a:rPr>
              <a:t>Why all of these?</a:t>
            </a:r>
          </a:p>
        </p:txBody>
      </p:sp>
      <p:sp>
        <p:nvSpPr>
          <p:cNvPr id="10" name="TextBox 9"/>
          <p:cNvSpPr txBox="1"/>
          <p:nvPr/>
        </p:nvSpPr>
        <p:spPr>
          <a:xfrm>
            <a:off x="9006840" y="1645920"/>
            <a:ext cx="2880360" cy="4297680"/>
          </a:xfrm>
          <a:prstGeom prst="rect">
            <a:avLst/>
          </a:prstGeom>
          <a:noFill/>
        </p:spPr>
        <p:txBody>
          <a:bodyPr wrap="square" anchor="t">
            <a:spAutoFit/>
          </a:bodyPr>
          <a:lstStyle/>
          <a:p>
            <a:pPr algn="l"/>
            <a:r>
              <a:rPr sz="1200" b="0" i="0">
                <a:solidFill>
                  <a:srgbClr val="333333"/>
                </a:solidFill>
              </a:rPr>
              <a:t>Materials have characteristic spectral fingerprints.
Two surfaces that look identical to the eye can be told apart by their full spectrum.
HSI gives a per-pixel spectrum — a 'mini-lab' at every point.</a:t>
            </a:r>
          </a:p>
        </p:txBody>
      </p:sp>
      <p:sp>
        <p:nvSpPr>
          <p:cNvPr id="11" name="TextBox 10"/>
          <p:cNvSpPr txBox="1"/>
          <p:nvPr/>
        </p:nvSpPr>
        <p:spPr>
          <a:xfrm>
            <a:off x="365760" y="6446520"/>
            <a:ext cx="11430000" cy="274320"/>
          </a:xfrm>
          <a:prstGeom prst="rect">
            <a:avLst/>
          </a:prstGeom>
          <a:noFill/>
        </p:spPr>
        <p:txBody>
          <a:bodyPr wrap="square" anchor="t">
            <a:spAutoFit/>
          </a:bodyPr>
          <a:lstStyle/>
          <a:p>
            <a:pPr algn="l"/>
            <a:r>
              <a:rPr sz="800" b="0" i="1">
                <a:solidFill>
                  <a:srgbClr val="888888"/>
                </a:solidFill>
              </a:rPr>
              <a:t>Image: Landsat-5 false-colour, NASA / USGS, public domain (Wikimedia)</a:t>
            </a:r>
          </a:p>
        </p:txBody>
      </p:sp>
      <p:sp>
        <p:nvSpPr>
          <p:cNvPr id="12" name="TextBox 11"/>
          <p:cNvSpPr txBox="1"/>
          <p:nvPr/>
        </p:nvSpPr>
        <p:spPr>
          <a:xfrm>
            <a:off x="365760" y="6492240"/>
            <a:ext cx="6400800" cy="274320"/>
          </a:xfrm>
          <a:prstGeom prst="rect">
            <a:avLst/>
          </a:prstGeom>
          <a:noFill/>
        </p:spPr>
        <p:txBody>
          <a:bodyPr wrap="square" anchor="t">
            <a:spAutoFit/>
          </a:bodyPr>
          <a:lstStyle/>
          <a:p>
            <a:pPr algn="l"/>
            <a:r>
              <a:rPr sz="900" b="0" i="1">
                <a:solidFill>
                  <a:srgbClr val="888888"/>
                </a:solidFill>
              </a:rPr>
              <a:t>Master's Thesis Defense — Narek Meloyan — 2026</a:t>
            </a:r>
          </a:p>
        </p:txBody>
      </p:sp>
      <p:sp>
        <p:nvSpPr>
          <p:cNvPr id="13" name="TextBox 12"/>
          <p:cNvSpPr txBox="1"/>
          <p:nvPr/>
        </p:nvSpPr>
        <p:spPr>
          <a:xfrm>
            <a:off x="11155680" y="6492240"/>
            <a:ext cx="731520" cy="274320"/>
          </a:xfrm>
          <a:prstGeom prst="rect">
            <a:avLst/>
          </a:prstGeom>
          <a:noFill/>
        </p:spPr>
        <p:txBody>
          <a:bodyPr wrap="square" anchor="t">
            <a:spAutoFit/>
          </a:bodyPr>
          <a:lstStyle/>
          <a:p>
            <a:pPr algn="r"/>
            <a:r>
              <a:rPr sz="900" b="0" i="0">
                <a:solidFill>
                  <a:srgbClr val="888888"/>
                </a:solidFill>
              </a:rPr>
              <a:t>4 / 31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48640"/>
          </a:xfrm>
          <a:prstGeom prst="rect">
            <a:avLst/>
          </a:prstGeom>
          <a:noFill/>
        </p:spPr>
        <p:txBody>
          <a:bodyPr wrap="square" anchor="ctr">
            <a:spAutoFit/>
          </a:bodyPr>
          <a:lstStyle/>
          <a:p>
            <a:pPr algn="l"/>
            <a:r>
              <a:rPr sz="2600" b="1" i="0">
                <a:solidFill>
                  <a:srgbClr val="FFFFFF"/>
                </a:solidFill>
              </a:rPr>
              <a:t>Why biomedicine cares about HSI</a:t>
            </a:r>
          </a:p>
        </p:txBody>
      </p:sp>
      <p:sp>
        <p:nvSpPr>
          <p:cNvPr id="4" name="TextBox 3"/>
          <p:cNvSpPr txBox="1"/>
          <p:nvPr/>
        </p:nvSpPr>
        <p:spPr>
          <a:xfrm>
            <a:off x="365760" y="1097280"/>
            <a:ext cx="7680960" cy="5029200"/>
          </a:xfrm>
          <a:prstGeom prst="rect">
            <a:avLst/>
          </a:prstGeom>
          <a:noFill/>
        </p:spPr>
        <p:txBody>
          <a:bodyPr wrap="square">
            <a:spAutoFit/>
          </a:bodyPr>
          <a:lstStyle/>
          <a:p>
            <a:pPr algn="l">
              <a:spcAft>
                <a:spcPts val="600"/>
              </a:spcAft>
            </a:pPr>
            <a:r>
              <a:rPr sz="1400">
                <a:solidFill>
                  <a:srgbClr val="333333"/>
                </a:solidFill>
              </a:rPr>
              <a:t>• Conventional imaging (RGB, MRI, CT) tells you WHERE things are — not WHAT they are made of</a:t>
            </a:r>
          </a:p>
          <a:p>
            <a:pPr algn="l">
              <a:spcAft>
                <a:spcPts val="600"/>
              </a:spcAft>
            </a:pPr>
            <a:r>
              <a:rPr sz="1400">
                <a:solidFill>
                  <a:srgbClr val="333333"/>
                </a:solidFill>
              </a:rPr>
              <a:t>• Biological tissues differ chemically: healthy vs. diseased, malignant vs. benign, well-perfused vs. ischemic</a:t>
            </a:r>
          </a:p>
          <a:p>
            <a:pPr algn="l">
              <a:spcAft>
                <a:spcPts val="600"/>
              </a:spcAft>
            </a:pPr>
            <a:r>
              <a:rPr sz="1400">
                <a:solidFill>
                  <a:srgbClr val="333333"/>
                </a:solidFill>
              </a:rPr>
              <a:t>• These chemical differences are invisible in RGB but visible in the spectrum</a:t>
            </a:r>
          </a:p>
          <a:p>
            <a:pPr algn="l">
              <a:spcAft>
                <a:spcPts val="600"/>
              </a:spcAft>
            </a:pPr>
            <a:r>
              <a:rPr sz="1400">
                <a:solidFill>
                  <a:srgbClr val="333333"/>
                </a:solidFill>
              </a:rPr>
              <a:t>• Clinical use cases:</a:t>
            </a:r>
          </a:p>
          <a:p>
            <a:pPr algn="l" lvl="1">
              <a:spcAft>
                <a:spcPts val="600"/>
              </a:spcAft>
            </a:pPr>
            <a:r>
              <a:rPr sz="1100">
                <a:solidFill>
                  <a:srgbClr val="333333"/>
                </a:solidFill>
              </a:rPr>
              <a:t>– Tumour-margin assessment during surgery</a:t>
            </a:r>
          </a:p>
          <a:p>
            <a:pPr algn="l" lvl="1">
              <a:spcAft>
                <a:spcPts val="600"/>
              </a:spcAft>
            </a:pPr>
            <a:r>
              <a:rPr sz="1100">
                <a:solidFill>
                  <a:srgbClr val="333333"/>
                </a:solidFill>
              </a:rPr>
              <a:t>– Real-time tissue classification in endoscopy</a:t>
            </a:r>
          </a:p>
          <a:p>
            <a:pPr algn="l" lvl="1">
              <a:spcAft>
                <a:spcPts val="600"/>
              </a:spcAft>
            </a:pPr>
            <a:r>
              <a:rPr sz="1100">
                <a:solidFill>
                  <a:srgbClr val="333333"/>
                </a:solidFill>
              </a:rPr>
              <a:t>– Wound assessment, burn depth estimation</a:t>
            </a:r>
          </a:p>
          <a:p>
            <a:pPr algn="l" lvl="1">
              <a:spcAft>
                <a:spcPts val="600"/>
              </a:spcAft>
            </a:pPr>
            <a:r>
              <a:rPr sz="1100">
                <a:solidFill>
                  <a:srgbClr val="333333"/>
                </a:solidFill>
              </a:rPr>
              <a:t>– Skin-cancer screening, retinal disease</a:t>
            </a:r>
          </a:p>
          <a:p>
            <a:pPr algn="l" lvl="1">
              <a:spcAft>
                <a:spcPts val="600"/>
              </a:spcAft>
            </a:pPr>
            <a:r>
              <a:rPr sz="1100">
                <a:solidFill>
                  <a:srgbClr val="333333"/>
                </a:solidFill>
              </a:rPr>
              <a:t>– Histopathology label-free analysis</a:t>
            </a:r>
          </a:p>
          <a:p>
            <a:pPr algn="l">
              <a:spcAft>
                <a:spcPts val="600"/>
              </a:spcAft>
            </a:pPr>
            <a:r>
              <a:rPr sz="1400">
                <a:solidFill>
                  <a:srgbClr val="333333"/>
                </a:solidFill>
              </a:rPr>
              <a:t>• Goal: label-free, non-invasive characterisation of tissue in vivo</a:t>
            </a:r>
          </a:p>
        </p:txBody>
      </p:sp>
      <p:pic>
        <p:nvPicPr>
          <p:cNvPr id="5" name="Picture 4" descr="fluorescence_micro.jpg"/>
          <p:cNvPicPr>
            <a:picLocks noChangeAspect="1"/>
          </p:cNvPicPr>
          <p:nvPr/>
        </p:nvPicPr>
        <p:blipFill>
          <a:blip r:embed="rId2"/>
          <a:stretch>
            <a:fillRect/>
          </a:stretch>
        </p:blipFill>
        <p:spPr>
          <a:xfrm>
            <a:off x="8275320" y="1188720"/>
            <a:ext cx="3657600" cy="2644622"/>
          </a:xfrm>
          <a:prstGeom prst="rect">
            <a:avLst/>
          </a:prstGeom>
        </p:spPr>
      </p:pic>
      <p:sp>
        <p:nvSpPr>
          <p:cNvPr id="6" name="TextBox 5"/>
          <p:cNvSpPr txBox="1"/>
          <p:nvPr/>
        </p:nvSpPr>
        <p:spPr>
          <a:xfrm>
            <a:off x="8275320" y="4023360"/>
            <a:ext cx="3657600" cy="365760"/>
          </a:xfrm>
          <a:prstGeom prst="rect">
            <a:avLst/>
          </a:prstGeom>
          <a:noFill/>
        </p:spPr>
        <p:txBody>
          <a:bodyPr wrap="square" anchor="t">
            <a:spAutoFit/>
          </a:bodyPr>
          <a:lstStyle/>
          <a:p>
            <a:pPr algn="ctr"/>
            <a:r>
              <a:rPr sz="1100" b="0" i="1">
                <a:solidFill>
                  <a:srgbClr val="888888"/>
                </a:solidFill>
              </a:rPr>
              <a:t>Fluorescence microscopy:
label-free contrast at the cellular scale</a:t>
            </a:r>
          </a:p>
        </p:txBody>
      </p:sp>
      <p:sp>
        <p:nvSpPr>
          <p:cNvPr id="7" name="TextBox 6"/>
          <p:cNvSpPr txBox="1"/>
          <p:nvPr/>
        </p:nvSpPr>
        <p:spPr>
          <a:xfrm>
            <a:off x="365760" y="6446520"/>
            <a:ext cx="11430000" cy="274320"/>
          </a:xfrm>
          <a:prstGeom prst="rect">
            <a:avLst/>
          </a:prstGeom>
          <a:noFill/>
        </p:spPr>
        <p:txBody>
          <a:bodyPr wrap="square" anchor="t">
            <a:spAutoFit/>
          </a:bodyPr>
          <a:lstStyle/>
          <a:p>
            <a:pPr algn="l"/>
            <a:r>
              <a:rPr sz="800" b="0" i="1">
                <a:solidFill>
                  <a:srgbClr val="888888"/>
                </a:solidFill>
              </a:rPr>
              <a:t>Image: GFP super-resolution micrograph: C. Cremer, Wikimedia CC BY-SA</a:t>
            </a:r>
          </a:p>
        </p:txBody>
      </p:sp>
      <p:sp>
        <p:nvSpPr>
          <p:cNvPr id="8" name="TextBox 7"/>
          <p:cNvSpPr txBox="1"/>
          <p:nvPr/>
        </p:nvSpPr>
        <p:spPr>
          <a:xfrm>
            <a:off x="365760" y="6492240"/>
            <a:ext cx="6400800" cy="274320"/>
          </a:xfrm>
          <a:prstGeom prst="rect">
            <a:avLst/>
          </a:prstGeom>
          <a:noFill/>
        </p:spPr>
        <p:txBody>
          <a:bodyPr wrap="square" anchor="t">
            <a:spAutoFit/>
          </a:bodyPr>
          <a:lstStyle/>
          <a:p>
            <a:pPr algn="l"/>
            <a:r>
              <a:rPr sz="900" b="0" i="1">
                <a:solidFill>
                  <a:srgbClr val="888888"/>
                </a:solidFill>
              </a:rPr>
              <a:t>Master's Thesis Defense — Narek Meloyan — 2026</a:t>
            </a:r>
          </a:p>
        </p:txBody>
      </p:sp>
      <p:sp>
        <p:nvSpPr>
          <p:cNvPr id="9" name="TextBox 8"/>
          <p:cNvSpPr txBox="1"/>
          <p:nvPr/>
        </p:nvSpPr>
        <p:spPr>
          <a:xfrm>
            <a:off x="11155680" y="6492240"/>
            <a:ext cx="731520" cy="274320"/>
          </a:xfrm>
          <a:prstGeom prst="rect">
            <a:avLst/>
          </a:prstGeom>
          <a:noFill/>
        </p:spPr>
        <p:txBody>
          <a:bodyPr wrap="square" anchor="t">
            <a:spAutoFit/>
          </a:bodyPr>
          <a:lstStyle/>
          <a:p>
            <a:pPr algn="r"/>
            <a:r>
              <a:rPr sz="900" b="0" i="0">
                <a:solidFill>
                  <a:srgbClr val="888888"/>
                </a:solidFill>
              </a:rPr>
              <a:t>5 / 31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48640"/>
          </a:xfrm>
          <a:prstGeom prst="rect">
            <a:avLst/>
          </a:prstGeom>
          <a:noFill/>
        </p:spPr>
        <p:txBody>
          <a:bodyPr wrap="square" anchor="ctr">
            <a:spAutoFit/>
          </a:bodyPr>
          <a:lstStyle/>
          <a:p>
            <a:pPr algn="l"/>
            <a:r>
              <a:rPr sz="2600" b="1" i="0">
                <a:solidFill>
                  <a:srgbClr val="FFFFFF"/>
                </a:solidFill>
              </a:rPr>
              <a:t>Fluorescence: how molecules emit light</a:t>
            </a:r>
          </a:p>
        </p:txBody>
      </p:sp>
      <p:pic>
        <p:nvPicPr>
          <p:cNvPr id="4" name="Picture 3" descr="jablonski.png"/>
          <p:cNvPicPr>
            <a:picLocks noChangeAspect="1"/>
          </p:cNvPicPr>
          <p:nvPr/>
        </p:nvPicPr>
        <p:blipFill>
          <a:blip r:embed="rId2"/>
          <a:stretch>
            <a:fillRect/>
          </a:stretch>
        </p:blipFill>
        <p:spPr>
          <a:xfrm>
            <a:off x="365760" y="1005840"/>
            <a:ext cx="2781763" cy="4206240"/>
          </a:xfrm>
          <a:prstGeom prst="rect">
            <a:avLst/>
          </a:prstGeom>
        </p:spPr>
      </p:pic>
      <p:sp>
        <p:nvSpPr>
          <p:cNvPr id="5" name="TextBox 4"/>
          <p:cNvSpPr txBox="1"/>
          <p:nvPr/>
        </p:nvSpPr>
        <p:spPr>
          <a:xfrm>
            <a:off x="274320" y="5303520"/>
            <a:ext cx="3108960" cy="365760"/>
          </a:xfrm>
          <a:prstGeom prst="rect">
            <a:avLst/>
          </a:prstGeom>
          <a:noFill/>
        </p:spPr>
        <p:txBody>
          <a:bodyPr wrap="square" anchor="t">
            <a:spAutoFit/>
          </a:bodyPr>
          <a:lstStyle/>
          <a:p>
            <a:pPr algn="ctr"/>
            <a:r>
              <a:rPr sz="1100" b="0" i="1">
                <a:solidFill>
                  <a:srgbClr val="888888"/>
                </a:solidFill>
              </a:rPr>
              <a:t>Jablonski diagram of fluorescence</a:t>
            </a:r>
          </a:p>
        </p:txBody>
      </p:sp>
      <p:sp>
        <p:nvSpPr>
          <p:cNvPr id="6" name="TextBox 5"/>
          <p:cNvSpPr txBox="1"/>
          <p:nvPr/>
        </p:nvSpPr>
        <p:spPr>
          <a:xfrm>
            <a:off x="3566160" y="1005840"/>
            <a:ext cx="4114800" cy="457200"/>
          </a:xfrm>
          <a:prstGeom prst="rect">
            <a:avLst/>
          </a:prstGeom>
          <a:noFill/>
        </p:spPr>
        <p:txBody>
          <a:bodyPr wrap="square" anchor="t">
            <a:spAutoFit/>
          </a:bodyPr>
          <a:lstStyle/>
          <a:p>
            <a:pPr algn="l"/>
            <a:r>
              <a:rPr sz="1500" b="1" i="0">
                <a:solidFill>
                  <a:srgbClr val="1F4E79"/>
                </a:solidFill>
              </a:rPr>
              <a:t>The physical process</a:t>
            </a:r>
          </a:p>
        </p:txBody>
      </p:sp>
      <p:sp>
        <p:nvSpPr>
          <p:cNvPr id="7" name="TextBox 6"/>
          <p:cNvSpPr txBox="1"/>
          <p:nvPr/>
        </p:nvSpPr>
        <p:spPr>
          <a:xfrm>
            <a:off x="3566160" y="1463040"/>
            <a:ext cx="4114800" cy="3657600"/>
          </a:xfrm>
          <a:prstGeom prst="rect">
            <a:avLst/>
          </a:prstGeom>
          <a:noFill/>
        </p:spPr>
        <p:txBody>
          <a:bodyPr wrap="square">
            <a:spAutoFit/>
          </a:bodyPr>
          <a:lstStyle/>
          <a:p>
            <a:pPr algn="l">
              <a:spcAft>
                <a:spcPts val="600"/>
              </a:spcAft>
            </a:pPr>
            <a:r>
              <a:rPr sz="1200">
                <a:solidFill>
                  <a:srgbClr val="333333"/>
                </a:solidFill>
              </a:rPr>
              <a:t>• 1. High-energy photon absorbed</a:t>
            </a:r>
          </a:p>
          <a:p>
            <a:pPr algn="l">
              <a:spcAft>
                <a:spcPts val="600"/>
              </a:spcAft>
            </a:pPr>
            <a:r>
              <a:rPr sz="1200">
                <a:solidFill>
                  <a:srgbClr val="333333"/>
                </a:solidFill>
              </a:rPr>
              <a:t>• 2. Electron jumps to excited state</a:t>
            </a:r>
          </a:p>
          <a:p>
            <a:pPr algn="l">
              <a:spcAft>
                <a:spcPts val="600"/>
              </a:spcAft>
            </a:pPr>
            <a:r>
              <a:rPr sz="1200">
                <a:solidFill>
                  <a:srgbClr val="333333"/>
                </a:solidFill>
              </a:rPr>
              <a:t>• 3. Some energy lost as heat</a:t>
            </a:r>
          </a:p>
          <a:p>
            <a:pPr algn="l">
              <a:spcAft>
                <a:spcPts val="600"/>
              </a:spcAft>
            </a:pPr>
            <a:r>
              <a:rPr sz="1200">
                <a:solidFill>
                  <a:srgbClr val="333333"/>
                </a:solidFill>
              </a:rPr>
              <a:t>• 4. Electron drops back, emits new photon</a:t>
            </a:r>
          </a:p>
          <a:p>
            <a:pPr algn="l">
              <a:spcAft>
                <a:spcPts val="600"/>
              </a:spcAft>
            </a:pPr>
            <a:r>
              <a:rPr sz="1200">
                <a:solidFill>
                  <a:srgbClr val="333333"/>
                </a:solidFill>
              </a:rPr>
              <a:t>• 5. λ_emission &gt; λ_excitation (Stokes shift)</a:t>
            </a:r>
          </a:p>
        </p:txBody>
      </p:sp>
      <p:pic>
        <p:nvPicPr>
          <p:cNvPr id="8" name="Picture 7" descr="fluorescent_minerals.jpg"/>
          <p:cNvPicPr>
            <a:picLocks noChangeAspect="1"/>
          </p:cNvPicPr>
          <p:nvPr/>
        </p:nvPicPr>
        <p:blipFill>
          <a:blip r:embed="rId3"/>
          <a:stretch>
            <a:fillRect/>
          </a:stretch>
        </p:blipFill>
        <p:spPr>
          <a:xfrm>
            <a:off x="7818120" y="1005840"/>
            <a:ext cx="4206240" cy="2712148"/>
          </a:xfrm>
          <a:prstGeom prst="rect">
            <a:avLst/>
          </a:prstGeom>
        </p:spPr>
      </p:pic>
      <p:sp>
        <p:nvSpPr>
          <p:cNvPr id="9" name="TextBox 8"/>
          <p:cNvSpPr txBox="1"/>
          <p:nvPr/>
        </p:nvSpPr>
        <p:spPr>
          <a:xfrm>
            <a:off x="7818120" y="3703320"/>
            <a:ext cx="4206240" cy="365760"/>
          </a:xfrm>
          <a:prstGeom prst="rect">
            <a:avLst/>
          </a:prstGeom>
          <a:noFill/>
        </p:spPr>
        <p:txBody>
          <a:bodyPr wrap="square" anchor="t">
            <a:spAutoFit/>
          </a:bodyPr>
          <a:lstStyle/>
          <a:p>
            <a:pPr algn="ctr"/>
            <a:r>
              <a:rPr sz="1100" b="0" i="1">
                <a:solidFill>
                  <a:srgbClr val="888888"/>
                </a:solidFill>
              </a:rPr>
              <a:t>Real minerals under UV — each fluorophore
emits a different colour</a:t>
            </a:r>
          </a:p>
        </p:txBody>
      </p:sp>
      <p:sp>
        <p:nvSpPr>
          <p:cNvPr id="10" name="TextBox 9"/>
          <p:cNvSpPr txBox="1"/>
          <p:nvPr/>
        </p:nvSpPr>
        <p:spPr>
          <a:xfrm>
            <a:off x="3566160" y="5029200"/>
            <a:ext cx="4114800" cy="365760"/>
          </a:xfrm>
          <a:prstGeom prst="rect">
            <a:avLst/>
          </a:prstGeom>
          <a:noFill/>
        </p:spPr>
        <p:txBody>
          <a:bodyPr wrap="square" anchor="t">
            <a:spAutoFit/>
          </a:bodyPr>
          <a:lstStyle/>
          <a:p>
            <a:pPr algn="l"/>
            <a:r>
              <a:rPr sz="1200" b="1" i="0">
                <a:solidFill>
                  <a:srgbClr val="1F4E79"/>
                </a:solidFill>
              </a:rPr>
              <a:t>Biological fluorophores:</a:t>
            </a:r>
          </a:p>
        </p:txBody>
      </p:sp>
      <p:sp>
        <p:nvSpPr>
          <p:cNvPr id="11" name="TextBox 10"/>
          <p:cNvSpPr txBox="1"/>
          <p:nvPr/>
        </p:nvSpPr>
        <p:spPr>
          <a:xfrm>
            <a:off x="3566160" y="5349240"/>
            <a:ext cx="4114800" cy="1188720"/>
          </a:xfrm>
          <a:prstGeom prst="rect">
            <a:avLst/>
          </a:prstGeom>
          <a:noFill/>
        </p:spPr>
        <p:txBody>
          <a:bodyPr wrap="square">
            <a:spAutoFit/>
          </a:bodyPr>
          <a:lstStyle/>
          <a:p>
            <a:pPr algn="l">
              <a:spcAft>
                <a:spcPts val="600"/>
              </a:spcAft>
            </a:pPr>
            <a:r>
              <a:rPr sz="1000">
                <a:solidFill>
                  <a:srgbClr val="333333"/>
                </a:solidFill>
              </a:rPr>
              <a:t>• NADH 340/460 · Collagen 330/400</a:t>
            </a:r>
          </a:p>
          <a:p>
            <a:pPr algn="l">
              <a:spcAft>
                <a:spcPts val="600"/>
              </a:spcAft>
            </a:pPr>
            <a:r>
              <a:rPr sz="1000">
                <a:solidFill>
                  <a:srgbClr val="333333"/>
                </a:solidFill>
              </a:rPr>
              <a:t>• Elastin 325/410 · Tryptophan 280/350</a:t>
            </a:r>
          </a:p>
          <a:p>
            <a:pPr algn="l">
              <a:spcAft>
                <a:spcPts val="600"/>
              </a:spcAft>
            </a:pPr>
            <a:r>
              <a:rPr sz="1000">
                <a:solidFill>
                  <a:srgbClr val="333333"/>
                </a:solidFill>
              </a:rPr>
              <a:t>• Flavins 450/525 · Chlorophyll 430/680</a:t>
            </a:r>
          </a:p>
        </p:txBody>
      </p:sp>
      <p:sp>
        <p:nvSpPr>
          <p:cNvPr id="12" name="TextBox 11"/>
          <p:cNvSpPr txBox="1"/>
          <p:nvPr/>
        </p:nvSpPr>
        <p:spPr>
          <a:xfrm>
            <a:off x="365760" y="6446520"/>
            <a:ext cx="11430000" cy="274320"/>
          </a:xfrm>
          <a:prstGeom prst="rect">
            <a:avLst/>
          </a:prstGeom>
          <a:noFill/>
        </p:spPr>
        <p:txBody>
          <a:bodyPr wrap="square" anchor="t">
            <a:spAutoFit/>
          </a:bodyPr>
          <a:lstStyle/>
          <a:p>
            <a:pPr algn="l"/>
            <a:r>
              <a:rPr sz="800" b="0" i="1">
                <a:solidFill>
                  <a:srgbClr val="888888"/>
                </a:solidFill>
              </a:rPr>
              <a:t>Image: Jablonski diagram + fluorescent minerals (H. Grobe): Wikimedia CC BY-SA</a:t>
            </a:r>
          </a:p>
        </p:txBody>
      </p:sp>
      <p:sp>
        <p:nvSpPr>
          <p:cNvPr id="13" name="TextBox 12"/>
          <p:cNvSpPr txBox="1"/>
          <p:nvPr/>
        </p:nvSpPr>
        <p:spPr>
          <a:xfrm>
            <a:off x="365760" y="6492240"/>
            <a:ext cx="6400800" cy="274320"/>
          </a:xfrm>
          <a:prstGeom prst="rect">
            <a:avLst/>
          </a:prstGeom>
          <a:noFill/>
        </p:spPr>
        <p:txBody>
          <a:bodyPr wrap="square" anchor="t">
            <a:spAutoFit/>
          </a:bodyPr>
          <a:lstStyle/>
          <a:p>
            <a:pPr algn="l"/>
            <a:r>
              <a:rPr sz="900" b="0" i="1">
                <a:solidFill>
                  <a:srgbClr val="888888"/>
                </a:solidFill>
              </a:rPr>
              <a:t>Master's Thesis Defense — Narek Meloyan — 2026</a:t>
            </a:r>
          </a:p>
        </p:txBody>
      </p:sp>
      <p:sp>
        <p:nvSpPr>
          <p:cNvPr id="14" name="TextBox 13"/>
          <p:cNvSpPr txBox="1"/>
          <p:nvPr/>
        </p:nvSpPr>
        <p:spPr>
          <a:xfrm>
            <a:off x="11155680" y="6492240"/>
            <a:ext cx="731520" cy="274320"/>
          </a:xfrm>
          <a:prstGeom prst="rect">
            <a:avLst/>
          </a:prstGeom>
          <a:noFill/>
        </p:spPr>
        <p:txBody>
          <a:bodyPr wrap="square" anchor="t">
            <a:spAutoFit/>
          </a:bodyPr>
          <a:lstStyle/>
          <a:p>
            <a:pPr algn="r"/>
            <a:r>
              <a:rPr sz="900" b="0" i="0">
                <a:solidFill>
                  <a:srgbClr val="888888"/>
                </a:solidFill>
              </a:rPr>
              <a:t>6 / 31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48640"/>
          </a:xfrm>
          <a:prstGeom prst="rect">
            <a:avLst/>
          </a:prstGeom>
          <a:noFill/>
        </p:spPr>
        <p:txBody>
          <a:bodyPr wrap="square" anchor="ctr">
            <a:spAutoFit/>
          </a:bodyPr>
          <a:lstStyle/>
          <a:p>
            <a:pPr algn="l"/>
            <a:r>
              <a:rPr sz="2600" b="1" i="0">
                <a:solidFill>
                  <a:srgbClr val="FFFFFF"/>
                </a:solidFill>
              </a:rPr>
              <a:t>Single-excitation fluorescence HSI</a:t>
            </a:r>
          </a:p>
        </p:txBody>
      </p:sp>
      <p:sp>
        <p:nvSpPr>
          <p:cNvPr id="4" name="Rounded Rectangle 3"/>
          <p:cNvSpPr/>
          <p:nvPr/>
        </p:nvSpPr>
        <p:spPr>
          <a:xfrm>
            <a:off x="457200" y="1097280"/>
            <a:ext cx="2194560" cy="1097280"/>
          </a:xfrm>
          <a:prstGeom prst="roundRect">
            <a:avLst/>
          </a:prstGeom>
          <a:solidFill>
            <a:srgbClr val="F4F6FA"/>
          </a:solidFill>
          <a:ln w="9525">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0"/>
            <a:ext cx="2194560" cy="1097280"/>
          </a:xfrm>
          <a:prstGeom prst="rect">
            <a:avLst/>
          </a:prstGeom>
          <a:noFill/>
        </p:spPr>
        <p:txBody>
          <a:bodyPr wrap="square" anchor="ctr">
            <a:spAutoFit/>
          </a:bodyPr>
          <a:lstStyle/>
          <a:p>
            <a:pPr algn="ctr"/>
            <a:r>
              <a:rPr sz="1200" b="1" i="0">
                <a:solidFill>
                  <a:srgbClr val="1F77B4"/>
                </a:solidFill>
              </a:rPr>
              <a:t>UV / blue
light source
(fixed λ_ex)</a:t>
            </a:r>
          </a:p>
        </p:txBody>
      </p:sp>
      <p:sp>
        <p:nvSpPr>
          <p:cNvPr id="6" name="TextBox 5"/>
          <p:cNvSpPr txBox="1"/>
          <p:nvPr/>
        </p:nvSpPr>
        <p:spPr>
          <a:xfrm>
            <a:off x="2697480" y="1417320"/>
            <a:ext cx="457200" cy="457200"/>
          </a:xfrm>
          <a:prstGeom prst="rect">
            <a:avLst/>
          </a:prstGeom>
          <a:noFill/>
        </p:spPr>
        <p:txBody>
          <a:bodyPr wrap="square" anchor="t">
            <a:spAutoFit/>
          </a:bodyPr>
          <a:lstStyle/>
          <a:p>
            <a:pPr algn="ctr"/>
            <a:r>
              <a:rPr sz="2800" b="0" i="0">
                <a:solidFill>
                  <a:srgbClr val="1F4E79"/>
                </a:solidFill>
              </a:rPr>
              <a:t>→</a:t>
            </a:r>
          </a:p>
        </p:txBody>
      </p:sp>
      <p:sp>
        <p:nvSpPr>
          <p:cNvPr id="7" name="Rounded Rectangle 6"/>
          <p:cNvSpPr/>
          <p:nvPr/>
        </p:nvSpPr>
        <p:spPr>
          <a:xfrm>
            <a:off x="3200400" y="1097280"/>
            <a:ext cx="2194560" cy="1097280"/>
          </a:xfrm>
          <a:prstGeom prst="roundRect">
            <a:avLst/>
          </a:prstGeom>
          <a:solidFill>
            <a:srgbClr val="F4F6FA"/>
          </a:solidFill>
          <a:ln w="9525">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0" y="1097280"/>
            <a:ext cx="2194560" cy="1097280"/>
          </a:xfrm>
          <a:prstGeom prst="rect">
            <a:avLst/>
          </a:prstGeom>
          <a:noFill/>
        </p:spPr>
        <p:txBody>
          <a:bodyPr wrap="square" anchor="ctr">
            <a:spAutoFit/>
          </a:bodyPr>
          <a:lstStyle/>
          <a:p>
            <a:pPr algn="ctr"/>
            <a:r>
              <a:rPr sz="1200" b="1" i="0">
                <a:solidFill>
                  <a:srgbClr val="2E8B57"/>
                </a:solidFill>
              </a:rPr>
              <a:t>Biological
sample</a:t>
            </a:r>
          </a:p>
        </p:txBody>
      </p:sp>
      <p:sp>
        <p:nvSpPr>
          <p:cNvPr id="9" name="TextBox 8"/>
          <p:cNvSpPr txBox="1"/>
          <p:nvPr/>
        </p:nvSpPr>
        <p:spPr>
          <a:xfrm>
            <a:off x="5440680" y="1417320"/>
            <a:ext cx="457200" cy="457200"/>
          </a:xfrm>
          <a:prstGeom prst="rect">
            <a:avLst/>
          </a:prstGeom>
          <a:noFill/>
        </p:spPr>
        <p:txBody>
          <a:bodyPr wrap="square" anchor="t">
            <a:spAutoFit/>
          </a:bodyPr>
          <a:lstStyle/>
          <a:p>
            <a:pPr algn="ctr"/>
            <a:r>
              <a:rPr sz="2800" b="0" i="0">
                <a:solidFill>
                  <a:srgbClr val="1F4E79"/>
                </a:solidFill>
              </a:rPr>
              <a:t>→</a:t>
            </a:r>
          </a:p>
        </p:txBody>
      </p:sp>
      <p:sp>
        <p:nvSpPr>
          <p:cNvPr id="10" name="Rounded Rectangle 9"/>
          <p:cNvSpPr/>
          <p:nvPr/>
        </p:nvSpPr>
        <p:spPr>
          <a:xfrm>
            <a:off x="5943600" y="1097280"/>
            <a:ext cx="2194560" cy="1097280"/>
          </a:xfrm>
          <a:prstGeom prst="roundRect">
            <a:avLst/>
          </a:prstGeom>
          <a:solidFill>
            <a:srgbClr val="F4F6FA"/>
          </a:solidFill>
          <a:ln w="9525">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0" y="1097280"/>
            <a:ext cx="2194560" cy="1097280"/>
          </a:xfrm>
          <a:prstGeom prst="rect">
            <a:avLst/>
          </a:prstGeom>
          <a:noFill/>
        </p:spPr>
        <p:txBody>
          <a:bodyPr wrap="square" anchor="ctr">
            <a:spAutoFit/>
          </a:bodyPr>
          <a:lstStyle/>
          <a:p>
            <a:pPr algn="ctr"/>
            <a:r>
              <a:rPr sz="1200" b="1" i="0">
                <a:solidFill>
                  <a:srgbClr val="C8102E"/>
                </a:solidFill>
              </a:rPr>
              <a:t>HSI camera
emission @ many λ_em</a:t>
            </a:r>
          </a:p>
        </p:txBody>
      </p:sp>
      <p:sp>
        <p:nvSpPr>
          <p:cNvPr id="12" name="TextBox 11"/>
          <p:cNvSpPr txBox="1"/>
          <p:nvPr/>
        </p:nvSpPr>
        <p:spPr>
          <a:xfrm>
            <a:off x="8183879" y="1417320"/>
            <a:ext cx="457200" cy="457200"/>
          </a:xfrm>
          <a:prstGeom prst="rect">
            <a:avLst/>
          </a:prstGeom>
          <a:noFill/>
        </p:spPr>
        <p:txBody>
          <a:bodyPr wrap="square" anchor="t">
            <a:spAutoFit/>
          </a:bodyPr>
          <a:lstStyle/>
          <a:p>
            <a:pPr algn="ctr"/>
            <a:r>
              <a:rPr sz="2800" b="0" i="0">
                <a:solidFill>
                  <a:srgbClr val="1F4E79"/>
                </a:solidFill>
              </a:rPr>
              <a:t>→</a:t>
            </a:r>
          </a:p>
        </p:txBody>
      </p:sp>
      <p:sp>
        <p:nvSpPr>
          <p:cNvPr id="13" name="Rounded Rectangle 12"/>
          <p:cNvSpPr/>
          <p:nvPr/>
        </p:nvSpPr>
        <p:spPr>
          <a:xfrm>
            <a:off x="8686800" y="1097280"/>
            <a:ext cx="2194560" cy="1097280"/>
          </a:xfrm>
          <a:prstGeom prst="roundRect">
            <a:avLst/>
          </a:prstGeom>
          <a:solidFill>
            <a:srgbClr val="E8EEF6"/>
          </a:solidFill>
          <a:ln w="9525">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0" y="1097280"/>
            <a:ext cx="2194560" cy="1097280"/>
          </a:xfrm>
          <a:prstGeom prst="rect">
            <a:avLst/>
          </a:prstGeom>
          <a:noFill/>
        </p:spPr>
        <p:txBody>
          <a:bodyPr wrap="square" anchor="ctr">
            <a:spAutoFit/>
          </a:bodyPr>
          <a:lstStyle/>
          <a:p>
            <a:pPr algn="ctr"/>
            <a:r>
              <a:rPr sz="1200" b="1" i="0">
                <a:solidFill>
                  <a:srgbClr val="1F4E79"/>
                </a:solidFill>
              </a:rPr>
              <a:t>3D cube
(x, y, λ_em)</a:t>
            </a:r>
          </a:p>
        </p:txBody>
      </p:sp>
      <p:sp>
        <p:nvSpPr>
          <p:cNvPr id="15" name="TextBox 14"/>
          <p:cNvSpPr txBox="1"/>
          <p:nvPr/>
        </p:nvSpPr>
        <p:spPr>
          <a:xfrm>
            <a:off x="457200" y="2560320"/>
            <a:ext cx="6858000" cy="3474720"/>
          </a:xfrm>
          <a:prstGeom prst="rect">
            <a:avLst/>
          </a:prstGeom>
          <a:noFill/>
        </p:spPr>
        <p:txBody>
          <a:bodyPr wrap="square">
            <a:spAutoFit/>
          </a:bodyPr>
          <a:lstStyle/>
          <a:p>
            <a:pPr algn="l">
              <a:spcAft>
                <a:spcPts val="600"/>
              </a:spcAft>
            </a:pPr>
            <a:r>
              <a:rPr sz="1200">
                <a:solidFill>
                  <a:srgbClr val="333333"/>
                </a:solidFill>
              </a:rPr>
              <a:t>• Result: at every pixel, a 1D emission spectrum — a chemical fingerprint</a:t>
            </a:r>
          </a:p>
          <a:p>
            <a:pPr algn="l">
              <a:spcAft>
                <a:spcPts val="600"/>
              </a:spcAft>
            </a:pPr>
            <a:r>
              <a:rPr sz="1200">
                <a:solidFill>
                  <a:srgbClr val="333333"/>
                </a:solidFill>
              </a:rPr>
              <a:t>• Each tissue type shows a characteristic emission curve at the chosen λ_ex</a:t>
            </a:r>
          </a:p>
          <a:p>
            <a:pPr algn="l">
              <a:spcAft>
                <a:spcPts val="600"/>
              </a:spcAft>
            </a:pPr>
            <a:r>
              <a:rPr sz="1200">
                <a:solidFill>
                  <a:srgbClr val="333333"/>
                </a:solidFill>
              </a:rPr>
              <a:t>• Already enables: tissue typing, NADH-redox mapping, autofluorescence contrast</a:t>
            </a:r>
          </a:p>
          <a:p>
            <a:pPr algn="l">
              <a:spcAft>
                <a:spcPts val="600"/>
              </a:spcAft>
            </a:pPr>
            <a:r>
              <a:rPr sz="1200">
                <a:solidFill>
                  <a:srgbClr val="333333"/>
                </a:solidFill>
              </a:rPr>
              <a:t>• Compared to RGB:</a:t>
            </a:r>
          </a:p>
          <a:p>
            <a:pPr algn="l" lvl="1">
              <a:spcAft>
                <a:spcPts val="600"/>
              </a:spcAft>
            </a:pPr>
            <a:r>
              <a:rPr sz="900">
                <a:solidFill>
                  <a:srgbClr val="333333"/>
                </a:solidFill>
              </a:rPr>
              <a:t>– 24+ channels of molecular info per pixel vs. 3 RGB channels</a:t>
            </a:r>
          </a:p>
          <a:p>
            <a:pPr algn="l" lvl="1">
              <a:spcAft>
                <a:spcPts val="600"/>
              </a:spcAft>
            </a:pPr>
            <a:r>
              <a:rPr sz="900">
                <a:solidFill>
                  <a:srgbClr val="333333"/>
                </a:solidFill>
              </a:rPr>
              <a:t>– Label-free — no exogenous dye injection</a:t>
            </a:r>
          </a:p>
        </p:txBody>
      </p:sp>
      <p:pic>
        <p:nvPicPr>
          <p:cNvPr id="16" name="Picture 15" descr="hsi_cube_alt.jpg"/>
          <p:cNvPicPr>
            <a:picLocks noChangeAspect="1"/>
          </p:cNvPicPr>
          <p:nvPr/>
        </p:nvPicPr>
        <p:blipFill>
          <a:blip r:embed="rId2"/>
          <a:stretch>
            <a:fillRect/>
          </a:stretch>
        </p:blipFill>
        <p:spPr>
          <a:xfrm>
            <a:off x="7680960" y="2560320"/>
            <a:ext cx="4206240" cy="4206240"/>
          </a:xfrm>
          <a:prstGeom prst="rect">
            <a:avLst/>
          </a:prstGeom>
        </p:spPr>
      </p:pic>
      <p:sp>
        <p:nvSpPr>
          <p:cNvPr id="17" name="TextBox 16"/>
          <p:cNvSpPr txBox="1"/>
          <p:nvPr/>
        </p:nvSpPr>
        <p:spPr>
          <a:xfrm>
            <a:off x="7680960" y="5989320"/>
            <a:ext cx="4206240" cy="365760"/>
          </a:xfrm>
          <a:prstGeom prst="rect">
            <a:avLst/>
          </a:prstGeom>
          <a:noFill/>
        </p:spPr>
        <p:txBody>
          <a:bodyPr wrap="square" anchor="t">
            <a:spAutoFit/>
          </a:bodyPr>
          <a:lstStyle/>
          <a:p>
            <a:pPr algn="ctr"/>
            <a:r>
              <a:rPr sz="1100" b="0" i="1">
                <a:solidFill>
                  <a:srgbClr val="888888"/>
                </a:solidFill>
              </a:rPr>
              <a:t>A spectral cube — 1 spectrum / pixel</a:t>
            </a:r>
          </a:p>
        </p:txBody>
      </p:sp>
      <p:sp>
        <p:nvSpPr>
          <p:cNvPr id="18" name="TextBox 17"/>
          <p:cNvSpPr txBox="1"/>
          <p:nvPr/>
        </p:nvSpPr>
        <p:spPr>
          <a:xfrm>
            <a:off x="365760" y="6446520"/>
            <a:ext cx="11430000" cy="274320"/>
          </a:xfrm>
          <a:prstGeom prst="rect">
            <a:avLst/>
          </a:prstGeom>
          <a:noFill/>
        </p:spPr>
        <p:txBody>
          <a:bodyPr wrap="square" anchor="t">
            <a:spAutoFit/>
          </a:bodyPr>
          <a:lstStyle/>
          <a:p>
            <a:pPr algn="l"/>
            <a:r>
              <a:rPr sz="800" b="0" i="1">
                <a:solidFill>
                  <a:srgbClr val="888888"/>
                </a:solidFill>
              </a:rPr>
              <a:t>Image: Hyperspectral cube illustration: Wikimedia Commons CC BY-SA</a:t>
            </a:r>
          </a:p>
        </p:txBody>
      </p:sp>
      <p:sp>
        <p:nvSpPr>
          <p:cNvPr id="19" name="TextBox 18"/>
          <p:cNvSpPr txBox="1"/>
          <p:nvPr/>
        </p:nvSpPr>
        <p:spPr>
          <a:xfrm>
            <a:off x="365760" y="6492240"/>
            <a:ext cx="6400800" cy="274320"/>
          </a:xfrm>
          <a:prstGeom prst="rect">
            <a:avLst/>
          </a:prstGeom>
          <a:noFill/>
        </p:spPr>
        <p:txBody>
          <a:bodyPr wrap="square" anchor="t">
            <a:spAutoFit/>
          </a:bodyPr>
          <a:lstStyle/>
          <a:p>
            <a:pPr algn="l"/>
            <a:r>
              <a:rPr sz="900" b="0" i="1">
                <a:solidFill>
                  <a:srgbClr val="888888"/>
                </a:solidFill>
              </a:rPr>
              <a:t>Master's Thesis Defense — Narek Meloyan — 2026</a:t>
            </a:r>
          </a:p>
        </p:txBody>
      </p:sp>
      <p:sp>
        <p:nvSpPr>
          <p:cNvPr id="20" name="TextBox 19"/>
          <p:cNvSpPr txBox="1"/>
          <p:nvPr/>
        </p:nvSpPr>
        <p:spPr>
          <a:xfrm>
            <a:off x="11155680" y="6492240"/>
            <a:ext cx="731520" cy="274320"/>
          </a:xfrm>
          <a:prstGeom prst="rect">
            <a:avLst/>
          </a:prstGeom>
          <a:noFill/>
        </p:spPr>
        <p:txBody>
          <a:bodyPr wrap="square" anchor="t">
            <a:spAutoFit/>
          </a:bodyPr>
          <a:lstStyle/>
          <a:p>
            <a:pPr algn="r"/>
            <a:r>
              <a:rPr sz="900" b="0" i="0">
                <a:solidFill>
                  <a:srgbClr val="888888"/>
                </a:solidFill>
              </a:rPr>
              <a:t>7 / 31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48640"/>
          </a:xfrm>
          <a:prstGeom prst="rect">
            <a:avLst/>
          </a:prstGeom>
          <a:noFill/>
        </p:spPr>
        <p:txBody>
          <a:bodyPr wrap="square" anchor="ctr">
            <a:spAutoFit/>
          </a:bodyPr>
          <a:lstStyle/>
          <a:p>
            <a:pPr algn="l"/>
            <a:r>
              <a:rPr sz="2600" b="1" i="0">
                <a:solidFill>
                  <a:srgbClr val="FFFFFF"/>
                </a:solidFill>
              </a:rPr>
              <a:t>Why a single excitation is not enough</a:t>
            </a:r>
          </a:p>
        </p:txBody>
      </p:sp>
      <p:sp>
        <p:nvSpPr>
          <p:cNvPr id="4" name="TextBox 3"/>
          <p:cNvSpPr txBox="1"/>
          <p:nvPr/>
        </p:nvSpPr>
        <p:spPr>
          <a:xfrm>
            <a:off x="457200" y="1097280"/>
            <a:ext cx="6400800" cy="5029200"/>
          </a:xfrm>
          <a:prstGeom prst="rect">
            <a:avLst/>
          </a:prstGeom>
          <a:noFill/>
        </p:spPr>
        <p:txBody>
          <a:bodyPr wrap="square">
            <a:spAutoFit/>
          </a:bodyPr>
          <a:lstStyle/>
          <a:p>
            <a:pPr algn="l">
              <a:spcAft>
                <a:spcPts val="600"/>
              </a:spcAft>
            </a:pPr>
            <a:r>
              <a:rPr sz="1500">
                <a:solidFill>
                  <a:srgbClr val="333333"/>
                </a:solidFill>
              </a:rPr>
              <a:t>• Many biological fluorophores overlap in emission</a:t>
            </a:r>
          </a:p>
          <a:p>
            <a:pPr algn="l" lvl="1">
              <a:spcAft>
                <a:spcPts val="600"/>
              </a:spcAft>
            </a:pPr>
            <a:r>
              <a:rPr sz="1200">
                <a:solidFill>
                  <a:srgbClr val="333333"/>
                </a:solidFill>
              </a:rPr>
              <a:t>– Collagen emits near 400 nm, elastin near 410 nm</a:t>
            </a:r>
          </a:p>
          <a:p>
            <a:pPr algn="l" lvl="1">
              <a:spcAft>
                <a:spcPts val="600"/>
              </a:spcAft>
            </a:pPr>
            <a:r>
              <a:rPr sz="1200">
                <a:solidFill>
                  <a:srgbClr val="333333"/>
                </a:solidFill>
              </a:rPr>
              <a:t>– NADH near 460 nm, lipofuscin tails through the same region</a:t>
            </a:r>
          </a:p>
          <a:p>
            <a:pPr algn="l">
              <a:spcAft>
                <a:spcPts val="600"/>
              </a:spcAft>
            </a:pPr>
            <a:r>
              <a:rPr sz="1500">
                <a:solidFill>
                  <a:srgbClr val="333333"/>
                </a:solidFill>
              </a:rPr>
              <a:t>• From the emission spectrum ALONE, you can't always tell who's emitting</a:t>
            </a:r>
          </a:p>
          <a:p>
            <a:pPr algn="l">
              <a:spcAft>
                <a:spcPts val="600"/>
              </a:spcAft>
            </a:pPr>
            <a:r>
              <a:rPr sz="1500">
                <a:solidFill>
                  <a:srgbClr val="333333"/>
                </a:solidFill>
              </a:rPr>
              <a:t>• Different fluorophores have different absorption profiles — they respond strongly to DIFFERENT excitations</a:t>
            </a:r>
          </a:p>
          <a:p>
            <a:pPr algn="l">
              <a:spcAft>
                <a:spcPts val="600"/>
              </a:spcAft>
            </a:pPr>
            <a:r>
              <a:rPr sz="1500">
                <a:solidFill>
                  <a:srgbClr val="333333"/>
                </a:solidFill>
              </a:rPr>
              <a:t>• A single-excitation acquisition picks one slice of this 2D landscape and discards the rest</a:t>
            </a:r>
          </a:p>
          <a:p>
            <a:pPr algn="l">
              <a:spcAft>
                <a:spcPts val="600"/>
              </a:spcAft>
            </a:pPr>
            <a:r>
              <a:rPr sz="1500">
                <a:solidFill>
                  <a:srgbClr val="333333"/>
                </a:solidFill>
              </a:rPr>
              <a:t>• Result: confused tissue classification when overlapping fluorophores are present</a:t>
            </a:r>
          </a:p>
        </p:txBody>
      </p:sp>
      <p:sp>
        <p:nvSpPr>
          <p:cNvPr id="5" name="Rounded Rectangle 4"/>
          <p:cNvSpPr/>
          <p:nvPr/>
        </p:nvSpPr>
        <p:spPr>
          <a:xfrm>
            <a:off x="7132320" y="1280160"/>
            <a:ext cx="4572000" cy="4572000"/>
          </a:xfrm>
          <a:prstGeom prst="roundRect">
            <a:avLst/>
          </a:prstGeom>
          <a:solidFill>
            <a:srgbClr val="F4F6FA"/>
          </a:solidFill>
          <a:ln w="15240">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23760" y="1417320"/>
            <a:ext cx="4389120" cy="457200"/>
          </a:xfrm>
          <a:prstGeom prst="rect">
            <a:avLst/>
          </a:prstGeom>
          <a:noFill/>
        </p:spPr>
        <p:txBody>
          <a:bodyPr wrap="square" anchor="t">
            <a:spAutoFit/>
          </a:bodyPr>
          <a:lstStyle/>
          <a:p>
            <a:pPr algn="ctr"/>
            <a:r>
              <a:rPr sz="1500" b="1" i="0">
                <a:solidFill>
                  <a:srgbClr val="1F4E79"/>
                </a:solidFill>
              </a:rPr>
              <a:t>The disambiguation problem</a:t>
            </a:r>
          </a:p>
        </p:txBody>
      </p:sp>
      <p:sp>
        <p:nvSpPr>
          <p:cNvPr id="7" name="TextBox 6"/>
          <p:cNvSpPr txBox="1"/>
          <p:nvPr/>
        </p:nvSpPr>
        <p:spPr>
          <a:xfrm>
            <a:off x="7223760" y="1920240"/>
            <a:ext cx="4389120" cy="3840480"/>
          </a:xfrm>
          <a:prstGeom prst="rect">
            <a:avLst/>
          </a:prstGeom>
          <a:noFill/>
        </p:spPr>
        <p:txBody>
          <a:bodyPr wrap="square" anchor="t">
            <a:spAutoFit/>
          </a:bodyPr>
          <a:lstStyle/>
          <a:p>
            <a:pPr algn="l"/>
            <a:r>
              <a:rPr sz="1300" b="0" i="0">
                <a:solidFill>
                  <a:srgbClr val="333333"/>
                </a:solidFill>
              </a:rPr>
              <a:t>Fluorophore A: peaks at ~450 nm
Fluorophore B: peaks at ~460 nm
→ Emission spectra OVERLAP heavily.
But:
A absorbs strongly at 340 nm
B absorbs strongly at 280 nm
→ Different EXCITATIONS produce different emission ratios.
    Vary the excitation to disambiguate.</a:t>
            </a:r>
          </a:p>
        </p:txBody>
      </p:sp>
      <p:sp>
        <p:nvSpPr>
          <p:cNvPr id="8" name="TextBox 7"/>
          <p:cNvSpPr txBox="1"/>
          <p:nvPr/>
        </p:nvSpPr>
        <p:spPr>
          <a:xfrm>
            <a:off x="365760" y="6492240"/>
            <a:ext cx="6400800" cy="274320"/>
          </a:xfrm>
          <a:prstGeom prst="rect">
            <a:avLst/>
          </a:prstGeom>
          <a:noFill/>
        </p:spPr>
        <p:txBody>
          <a:bodyPr wrap="square" anchor="t">
            <a:spAutoFit/>
          </a:bodyPr>
          <a:lstStyle/>
          <a:p>
            <a:pPr algn="l"/>
            <a:r>
              <a:rPr sz="900" b="0" i="1">
                <a:solidFill>
                  <a:srgbClr val="888888"/>
                </a:solidFill>
              </a:rPr>
              <a:t>Master's Thesis Defense — Narek Meloyan — 2026</a:t>
            </a:r>
          </a:p>
        </p:txBody>
      </p:sp>
      <p:sp>
        <p:nvSpPr>
          <p:cNvPr id="9" name="TextBox 8"/>
          <p:cNvSpPr txBox="1"/>
          <p:nvPr/>
        </p:nvSpPr>
        <p:spPr>
          <a:xfrm>
            <a:off x="11155680" y="6492240"/>
            <a:ext cx="731520" cy="274320"/>
          </a:xfrm>
          <a:prstGeom prst="rect">
            <a:avLst/>
          </a:prstGeom>
          <a:noFill/>
        </p:spPr>
        <p:txBody>
          <a:bodyPr wrap="square" anchor="t">
            <a:spAutoFit/>
          </a:bodyPr>
          <a:lstStyle/>
          <a:p>
            <a:pPr algn="r"/>
            <a:r>
              <a:rPr sz="900" b="0" i="0">
                <a:solidFill>
                  <a:srgbClr val="888888"/>
                </a:solidFill>
              </a:rPr>
              <a:t>8 / 31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48640"/>
          </a:xfrm>
          <a:prstGeom prst="rect">
            <a:avLst/>
          </a:prstGeom>
          <a:noFill/>
        </p:spPr>
        <p:txBody>
          <a:bodyPr wrap="square" anchor="ctr">
            <a:spAutoFit/>
          </a:bodyPr>
          <a:lstStyle/>
          <a:p>
            <a:pPr algn="l"/>
            <a:r>
              <a:rPr sz="2600" b="1" i="0">
                <a:solidFill>
                  <a:srgbClr val="FFFFFF"/>
                </a:solidFill>
              </a:rPr>
              <a:t>Multi-Excitation HSI: the 4D extension</a:t>
            </a:r>
          </a:p>
        </p:txBody>
      </p:sp>
      <p:sp>
        <p:nvSpPr>
          <p:cNvPr id="4" name="TextBox 3"/>
          <p:cNvSpPr txBox="1"/>
          <p:nvPr/>
        </p:nvSpPr>
        <p:spPr>
          <a:xfrm>
            <a:off x="365760" y="1097280"/>
            <a:ext cx="5943600" cy="5029200"/>
          </a:xfrm>
          <a:prstGeom prst="rect">
            <a:avLst/>
          </a:prstGeom>
          <a:noFill/>
        </p:spPr>
        <p:txBody>
          <a:bodyPr wrap="square">
            <a:spAutoFit/>
          </a:bodyPr>
          <a:lstStyle/>
          <a:p>
            <a:pPr algn="l">
              <a:spcAft>
                <a:spcPts val="600"/>
              </a:spcAft>
            </a:pPr>
            <a:r>
              <a:rPr sz="1300">
                <a:solidFill>
                  <a:srgbClr val="333333"/>
                </a:solidFill>
              </a:rPr>
              <a:t>• Acquire the same scene at MANY excitation wavelengths sequentially</a:t>
            </a:r>
          </a:p>
          <a:p>
            <a:pPr algn="l">
              <a:spcAft>
                <a:spcPts val="600"/>
              </a:spcAft>
            </a:pPr>
            <a:r>
              <a:rPr sz="1300">
                <a:solidFill>
                  <a:srgbClr val="333333"/>
                </a:solidFill>
              </a:rPr>
              <a:t>• Each pixel now has TWO spectral dimensions:</a:t>
            </a:r>
          </a:p>
          <a:p>
            <a:pPr algn="l" lvl="1">
              <a:spcAft>
                <a:spcPts val="600"/>
              </a:spcAft>
            </a:pPr>
            <a:r>
              <a:rPr sz="1000">
                <a:solidFill>
                  <a:srgbClr val="333333"/>
                </a:solidFill>
              </a:rPr>
              <a:t>– emission λ_em (as before)</a:t>
            </a:r>
          </a:p>
          <a:p>
            <a:pPr algn="l" lvl="1">
              <a:spcAft>
                <a:spcPts val="600"/>
              </a:spcAft>
            </a:pPr>
            <a:r>
              <a:rPr sz="1000">
                <a:solidFill>
                  <a:srgbClr val="333333"/>
                </a:solidFill>
              </a:rPr>
              <a:t>– excitation λ_ex (new)</a:t>
            </a:r>
          </a:p>
          <a:p>
            <a:pPr algn="l">
              <a:spcAft>
                <a:spcPts val="600"/>
              </a:spcAft>
            </a:pPr>
            <a:r>
              <a:rPr sz="1300">
                <a:solidFill>
                  <a:srgbClr val="333333"/>
                </a:solidFill>
              </a:rPr>
              <a:t>• A pixel's data is no longer a curve — it's a 2D excitation-emission matrix (EEM)</a:t>
            </a:r>
          </a:p>
          <a:p>
            <a:pPr algn="l">
              <a:spcAft>
                <a:spcPts val="600"/>
              </a:spcAft>
            </a:pPr>
            <a:r>
              <a:rPr sz="1300">
                <a:solidFill>
                  <a:srgbClr val="333333"/>
                </a:solidFill>
              </a:rPr>
              <a:t>• Each fluorophore has a characteristic EEM "signature"</a:t>
            </a:r>
          </a:p>
          <a:p>
            <a:pPr algn="l">
              <a:spcAft>
                <a:spcPts val="600"/>
              </a:spcAft>
            </a:pPr>
            <a:r>
              <a:rPr sz="1300">
                <a:solidFill>
                  <a:srgbClr val="333333"/>
                </a:solidFill>
              </a:rPr>
              <a:t>• Overlapping emission curves now separate when you also vary excitation</a:t>
            </a:r>
          </a:p>
        </p:txBody>
      </p:sp>
      <p:pic>
        <p:nvPicPr>
          <p:cNvPr id="5" name="Picture 4" descr="hsi_cube.png"/>
          <p:cNvPicPr>
            <a:picLocks noChangeAspect="1"/>
          </p:cNvPicPr>
          <p:nvPr/>
        </p:nvPicPr>
        <p:blipFill>
          <a:blip r:embed="rId2"/>
          <a:stretch>
            <a:fillRect/>
          </a:stretch>
        </p:blipFill>
        <p:spPr>
          <a:xfrm>
            <a:off x="6400800" y="1097280"/>
            <a:ext cx="3017520" cy="2938939"/>
          </a:xfrm>
          <a:prstGeom prst="rect">
            <a:avLst/>
          </a:prstGeom>
        </p:spPr>
      </p:pic>
      <p:sp>
        <p:nvSpPr>
          <p:cNvPr id="6" name="TextBox 5"/>
          <p:cNvSpPr txBox="1"/>
          <p:nvPr/>
        </p:nvSpPr>
        <p:spPr>
          <a:xfrm>
            <a:off x="6400800" y="4160520"/>
            <a:ext cx="3017520" cy="365760"/>
          </a:xfrm>
          <a:prstGeom prst="rect">
            <a:avLst/>
          </a:prstGeom>
          <a:noFill/>
        </p:spPr>
        <p:txBody>
          <a:bodyPr wrap="square" anchor="t">
            <a:spAutoFit/>
          </a:bodyPr>
          <a:lstStyle/>
          <a:p>
            <a:pPr algn="ctr"/>
            <a:r>
              <a:rPr sz="1100" b="0" i="1">
                <a:solidFill>
                  <a:srgbClr val="888888"/>
                </a:solidFill>
              </a:rPr>
              <a:t>Single → multi → hyperspectral
(ME-HSI adds another axis on top)</a:t>
            </a:r>
          </a:p>
        </p:txBody>
      </p:sp>
      <p:sp>
        <p:nvSpPr>
          <p:cNvPr id="7" name="Rounded Rectangle 6"/>
          <p:cNvSpPr/>
          <p:nvPr/>
        </p:nvSpPr>
        <p:spPr>
          <a:xfrm>
            <a:off x="9555480" y="1097280"/>
            <a:ext cx="2468880" cy="4846320"/>
          </a:xfrm>
          <a:prstGeom prst="roundRect">
            <a:avLst/>
          </a:prstGeom>
          <a:solidFill>
            <a:srgbClr val="F4F6FA"/>
          </a:solidFill>
          <a:ln w="2540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1234440"/>
            <a:ext cx="2286000" cy="457200"/>
          </a:xfrm>
          <a:prstGeom prst="rect">
            <a:avLst/>
          </a:prstGeom>
          <a:noFill/>
        </p:spPr>
        <p:txBody>
          <a:bodyPr wrap="square" anchor="t">
            <a:spAutoFit/>
          </a:bodyPr>
          <a:lstStyle/>
          <a:p>
            <a:pPr algn="l"/>
            <a:r>
              <a:rPr sz="1300" b="1" i="0">
                <a:solidFill>
                  <a:srgbClr val="1F4E79"/>
                </a:solidFill>
              </a:rPr>
              <a:t>Data shape:</a:t>
            </a:r>
          </a:p>
        </p:txBody>
      </p:sp>
      <p:sp>
        <p:nvSpPr>
          <p:cNvPr id="9" name="TextBox 8"/>
          <p:cNvSpPr txBox="1"/>
          <p:nvPr/>
        </p:nvSpPr>
        <p:spPr>
          <a:xfrm>
            <a:off x="9646920" y="1691640"/>
            <a:ext cx="2286000" cy="731520"/>
          </a:xfrm>
          <a:prstGeom prst="rect">
            <a:avLst/>
          </a:prstGeom>
          <a:noFill/>
        </p:spPr>
        <p:txBody>
          <a:bodyPr wrap="square" anchor="t">
            <a:spAutoFit/>
          </a:bodyPr>
          <a:lstStyle/>
          <a:p>
            <a:pPr algn="ctr"/>
            <a:r>
              <a:rPr sz="1500" b="1" i="0">
                <a:solidFill>
                  <a:srgbClr val="C8102E"/>
                </a:solidFill>
              </a:rPr>
              <a:t>I(x, y, λ_em, λ_ex)</a:t>
            </a:r>
          </a:p>
        </p:txBody>
      </p:sp>
      <p:sp>
        <p:nvSpPr>
          <p:cNvPr id="10" name="TextBox 9"/>
          <p:cNvSpPr txBox="1"/>
          <p:nvPr/>
        </p:nvSpPr>
        <p:spPr>
          <a:xfrm>
            <a:off x="9646920" y="2606040"/>
            <a:ext cx="2286000" cy="3200400"/>
          </a:xfrm>
          <a:prstGeom prst="rect">
            <a:avLst/>
          </a:prstGeom>
          <a:noFill/>
        </p:spPr>
        <p:txBody>
          <a:bodyPr wrap="square" anchor="t">
            <a:spAutoFit/>
          </a:bodyPr>
          <a:lstStyle/>
          <a:p>
            <a:pPr algn="l"/>
            <a:r>
              <a:rPr sz="1100" b="0" i="0">
                <a:solidFill>
                  <a:srgbClr val="333333"/>
                </a:solidFill>
              </a:rPr>
              <a:t>Example:
• 8 excitations
• 24 em bands each
• 192 layers / pixel
• 1040×925 →
  ~184 M points / frame</a:t>
            </a:r>
          </a:p>
        </p:txBody>
      </p:sp>
      <p:sp>
        <p:nvSpPr>
          <p:cNvPr id="11" name="TextBox 10"/>
          <p:cNvSpPr txBox="1"/>
          <p:nvPr/>
        </p:nvSpPr>
        <p:spPr>
          <a:xfrm>
            <a:off x="365760" y="6446520"/>
            <a:ext cx="11430000" cy="274320"/>
          </a:xfrm>
          <a:prstGeom prst="rect">
            <a:avLst/>
          </a:prstGeom>
          <a:noFill/>
        </p:spPr>
        <p:txBody>
          <a:bodyPr wrap="square" anchor="t">
            <a:spAutoFit/>
          </a:bodyPr>
          <a:lstStyle/>
          <a:p>
            <a:pPr algn="l"/>
            <a:r>
              <a:rPr sz="800" b="0" i="1">
                <a:solidFill>
                  <a:srgbClr val="888888"/>
                </a:solidFill>
              </a:rPr>
              <a:t>Image: Spectral cube comparison: Wikimedia Commons CC BY-SA</a:t>
            </a:r>
          </a:p>
        </p:txBody>
      </p:sp>
      <p:sp>
        <p:nvSpPr>
          <p:cNvPr id="12" name="TextBox 11"/>
          <p:cNvSpPr txBox="1"/>
          <p:nvPr/>
        </p:nvSpPr>
        <p:spPr>
          <a:xfrm>
            <a:off x="365760" y="6492240"/>
            <a:ext cx="6400800" cy="274320"/>
          </a:xfrm>
          <a:prstGeom prst="rect">
            <a:avLst/>
          </a:prstGeom>
          <a:noFill/>
        </p:spPr>
        <p:txBody>
          <a:bodyPr wrap="square" anchor="t">
            <a:spAutoFit/>
          </a:bodyPr>
          <a:lstStyle/>
          <a:p>
            <a:pPr algn="l"/>
            <a:r>
              <a:rPr sz="900" b="0" i="1">
                <a:solidFill>
                  <a:srgbClr val="888888"/>
                </a:solidFill>
              </a:rPr>
              <a:t>Master's Thesis Defense — Narek Meloyan — 2026</a:t>
            </a:r>
          </a:p>
        </p:txBody>
      </p:sp>
      <p:sp>
        <p:nvSpPr>
          <p:cNvPr id="13" name="TextBox 12"/>
          <p:cNvSpPr txBox="1"/>
          <p:nvPr/>
        </p:nvSpPr>
        <p:spPr>
          <a:xfrm>
            <a:off x="11155680" y="6492240"/>
            <a:ext cx="731520" cy="274320"/>
          </a:xfrm>
          <a:prstGeom prst="rect">
            <a:avLst/>
          </a:prstGeom>
          <a:noFill/>
        </p:spPr>
        <p:txBody>
          <a:bodyPr wrap="square" anchor="t">
            <a:spAutoFit/>
          </a:bodyPr>
          <a:lstStyle/>
          <a:p>
            <a:pPr algn="r"/>
            <a:r>
              <a:rPr sz="900" b="0" i="0">
                <a:solidFill>
                  <a:srgbClr val="888888"/>
                </a:solidFill>
              </a:rPr>
              <a:t>9 / 31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48640"/>
          </a:xfrm>
          <a:prstGeom prst="rect">
            <a:avLst/>
          </a:prstGeom>
          <a:noFill/>
        </p:spPr>
        <p:txBody>
          <a:bodyPr wrap="square" anchor="ctr">
            <a:spAutoFit/>
          </a:bodyPr>
          <a:lstStyle/>
          <a:p>
            <a:pPr algn="l"/>
            <a:r>
              <a:rPr sz="2600" b="1" i="0">
                <a:solidFill>
                  <a:srgbClr val="FFFFFF"/>
                </a:solidFill>
              </a:rPr>
              <a:t>ME-HSI's new challenges</a:t>
            </a:r>
          </a:p>
        </p:txBody>
      </p:sp>
      <p:sp>
        <p:nvSpPr>
          <p:cNvPr id="4" name="TextBox 3"/>
          <p:cNvSpPr txBox="1"/>
          <p:nvPr/>
        </p:nvSpPr>
        <p:spPr>
          <a:xfrm>
            <a:off x="457200" y="1097280"/>
            <a:ext cx="11338560" cy="5029200"/>
          </a:xfrm>
          <a:prstGeom prst="rect">
            <a:avLst/>
          </a:prstGeom>
          <a:noFill/>
        </p:spPr>
        <p:txBody>
          <a:bodyPr wrap="square">
            <a:spAutoFit/>
          </a:bodyPr>
          <a:lstStyle/>
          <a:p>
            <a:pPr algn="l">
              <a:spcAft>
                <a:spcPts val="600"/>
              </a:spcAft>
            </a:pPr>
            <a:r>
              <a:rPr sz="1400">
                <a:solidFill>
                  <a:srgbClr val="333333"/>
                </a:solidFill>
              </a:rPr>
              <a:t>• Data explosion: 192+ spectral layers per pixel ⇒ acquisition time, storage, computation all scale up</a:t>
            </a:r>
          </a:p>
          <a:p>
            <a:pPr algn="l">
              <a:spcAft>
                <a:spcPts val="600"/>
              </a:spcAft>
            </a:pPr>
            <a:r>
              <a:rPr sz="1400">
                <a:solidFill>
                  <a:srgbClr val="333333"/>
                </a:solidFill>
              </a:rPr>
              <a:t>• Acquisition is sequential — slow; not ideal for moving samples or live tissue</a:t>
            </a:r>
          </a:p>
          <a:p>
            <a:pPr algn="l">
              <a:spcAft>
                <a:spcPts val="600"/>
              </a:spcAft>
            </a:pPr>
            <a:r>
              <a:rPr sz="1400">
                <a:solidFill>
                  <a:srgbClr val="333333"/>
                </a:solidFill>
              </a:rPr>
              <a:t>• Physical artifacts:</a:t>
            </a:r>
          </a:p>
          <a:p>
            <a:pPr algn="l" lvl="1">
              <a:spcAft>
                <a:spcPts val="600"/>
              </a:spcAft>
            </a:pPr>
            <a:r>
              <a:rPr sz="1100">
                <a:solidFill>
                  <a:srgbClr val="333333"/>
                </a:solidFill>
              </a:rPr>
              <a:t>– Rayleigh scattering at λ_em ≈ λ_ex creates invalid bands (1st order)</a:t>
            </a:r>
          </a:p>
          <a:p>
            <a:pPr algn="l" lvl="1">
              <a:spcAft>
                <a:spcPts val="600"/>
              </a:spcAft>
            </a:pPr>
            <a:r>
              <a:rPr sz="1100">
                <a:solidFill>
                  <a:srgbClr val="333333"/>
                </a:solidFill>
              </a:rPr>
              <a:t>– 2nd-order harmonics at λ_em ≈ 2·λ_ex add more invalid bands</a:t>
            </a:r>
          </a:p>
          <a:p>
            <a:pPr algn="l" lvl="1">
              <a:spcAft>
                <a:spcPts val="600"/>
              </a:spcAft>
            </a:pPr>
            <a:r>
              <a:rPr sz="1100">
                <a:solidFill>
                  <a:srgbClr val="333333"/>
                </a:solidFill>
              </a:rPr>
              <a:t>– Variable number of valid emission bands per excitation</a:t>
            </a:r>
          </a:p>
          <a:p>
            <a:pPr algn="l">
              <a:spcAft>
                <a:spcPts val="600"/>
              </a:spcAft>
            </a:pPr>
            <a:r>
              <a:rPr sz="1400">
                <a:solidFill>
                  <a:srgbClr val="333333"/>
                </a:solidFill>
              </a:rPr>
              <a:t>• Spectral redundancy: most (λ_ex, λ_em) cells carry overlapping information</a:t>
            </a:r>
          </a:p>
          <a:p>
            <a:pPr algn="l">
              <a:spcAft>
                <a:spcPts val="600"/>
              </a:spcAft>
            </a:pPr>
            <a:r>
              <a:rPr sz="1400">
                <a:solidFill>
                  <a:srgbClr val="333333"/>
                </a:solidFill>
              </a:rPr>
              <a:t>• Cross-excitation correlations: the JOINT structure between excitations is precisely what 3D HSI methods cannot see</a:t>
            </a:r>
          </a:p>
          <a:p>
            <a:pPr algn="l">
              <a:spcAft>
                <a:spcPts val="600"/>
              </a:spcAft>
            </a:pPr>
            <a:r>
              <a:rPr sz="1400">
                <a:solidFill>
                  <a:srgbClr val="333333"/>
                </a:solidFill>
              </a:rPr>
              <a:t>• Detector noise dominates at low-signal regions and long excitations</a:t>
            </a:r>
          </a:p>
        </p:txBody>
      </p:sp>
      <p:sp>
        <p:nvSpPr>
          <p:cNvPr id="5" name="TextBox 4"/>
          <p:cNvSpPr txBox="1"/>
          <p:nvPr/>
        </p:nvSpPr>
        <p:spPr>
          <a:xfrm>
            <a:off x="365760" y="6492240"/>
            <a:ext cx="6400800" cy="274320"/>
          </a:xfrm>
          <a:prstGeom prst="rect">
            <a:avLst/>
          </a:prstGeom>
          <a:noFill/>
        </p:spPr>
        <p:txBody>
          <a:bodyPr wrap="square" anchor="t">
            <a:spAutoFit/>
          </a:bodyPr>
          <a:lstStyle/>
          <a:p>
            <a:pPr algn="l"/>
            <a:r>
              <a:rPr sz="900" b="0" i="1">
                <a:solidFill>
                  <a:srgbClr val="888888"/>
                </a:solidFill>
              </a:rPr>
              <a:t>Master's Thesis Defense — Narek Meloyan — 2026</a:t>
            </a:r>
          </a:p>
        </p:txBody>
      </p:sp>
      <p:sp>
        <p:nvSpPr>
          <p:cNvPr id="6" name="TextBox 5"/>
          <p:cNvSpPr txBox="1"/>
          <p:nvPr/>
        </p:nvSpPr>
        <p:spPr>
          <a:xfrm>
            <a:off x="11155680" y="6492240"/>
            <a:ext cx="731520" cy="274320"/>
          </a:xfrm>
          <a:prstGeom prst="rect">
            <a:avLst/>
          </a:prstGeom>
          <a:noFill/>
        </p:spPr>
        <p:txBody>
          <a:bodyPr wrap="square" anchor="t">
            <a:spAutoFit/>
          </a:bodyPr>
          <a:lstStyle/>
          <a:p>
            <a:pPr algn="r"/>
            <a:r>
              <a:rPr sz="900" b="0" i="0">
                <a:solidFill>
                  <a:srgbClr val="888888"/>
                </a:solidFill>
              </a:rPr>
              <a:t>10 / 31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48640"/>
          </a:xfrm>
          <a:prstGeom prst="rect">
            <a:avLst/>
          </a:prstGeom>
          <a:noFill/>
        </p:spPr>
        <p:txBody>
          <a:bodyPr wrap="square" anchor="ctr">
            <a:spAutoFit/>
          </a:bodyPr>
          <a:lstStyle/>
          <a:p>
            <a:pPr algn="l"/>
            <a:r>
              <a:rPr sz="2600" b="1" i="0">
                <a:solidFill>
                  <a:srgbClr val="FFFFFF"/>
                </a:solidFill>
              </a:rPr>
              <a:t>Existing band-selection methods</a:t>
            </a:r>
          </a:p>
        </p:txBody>
      </p:sp>
      <p:sp>
        <p:nvSpPr>
          <p:cNvPr id="4" name="TextBox 3"/>
          <p:cNvSpPr txBox="1"/>
          <p:nvPr/>
        </p:nvSpPr>
        <p:spPr>
          <a:xfrm>
            <a:off x="457200" y="1097280"/>
            <a:ext cx="11338560" cy="5029200"/>
          </a:xfrm>
          <a:prstGeom prst="rect">
            <a:avLst/>
          </a:prstGeom>
          <a:noFill/>
        </p:spPr>
        <p:txBody>
          <a:bodyPr wrap="square">
            <a:spAutoFit/>
          </a:bodyPr>
          <a:lstStyle/>
          <a:p>
            <a:pPr algn="l">
              <a:spcAft>
                <a:spcPts val="600"/>
              </a:spcAft>
            </a:pPr>
            <a:r>
              <a:rPr sz="1400">
                <a:solidFill>
                  <a:srgbClr val="333333"/>
                </a:solidFill>
              </a:rPr>
              <a:t>• Four standard families in 3D HSI literature:</a:t>
            </a:r>
          </a:p>
          <a:p>
            <a:pPr algn="l" lvl="1">
              <a:spcAft>
                <a:spcPts val="600"/>
              </a:spcAft>
            </a:pPr>
            <a:r>
              <a:rPr sz="1100">
                <a:solidFill>
                  <a:srgbClr val="333333"/>
                </a:solidFill>
              </a:rPr>
              <a:t>– Filter (variance, entropy, correlation): cheap, no task signal</a:t>
            </a:r>
          </a:p>
          <a:p>
            <a:pPr algn="l" lvl="1">
              <a:spcAft>
                <a:spcPts val="600"/>
              </a:spcAft>
            </a:pPr>
            <a:r>
              <a:rPr sz="1100">
                <a:solidFill>
                  <a:srgbClr val="333333"/>
                </a:solidFill>
              </a:rPr>
              <a:t>– Wrapper (sequential forward selection, genetic algorithms): expensive, label-hungry</a:t>
            </a:r>
          </a:p>
          <a:p>
            <a:pPr algn="l" lvl="1">
              <a:spcAft>
                <a:spcPts val="600"/>
              </a:spcAft>
            </a:pPr>
            <a:r>
              <a:rPr sz="1100">
                <a:solidFill>
                  <a:srgbClr val="333333"/>
                </a:solidFill>
              </a:rPr>
              <a:t>– Embedded (LASSO, attention): jointly learn weights and selection — need labels</a:t>
            </a:r>
          </a:p>
          <a:p>
            <a:pPr algn="l" lvl="1">
              <a:spcAft>
                <a:spcPts val="600"/>
              </a:spcAft>
            </a:pPr>
            <a:r>
              <a:rPr sz="1100">
                <a:solidFill>
                  <a:srgbClr val="333333"/>
                </a:solidFill>
              </a:rPr>
              <a:t>– Deep (BS-Net, attention models): learn-to-select via reconstruction</a:t>
            </a:r>
          </a:p>
          <a:p>
            <a:pPr algn="l">
              <a:spcAft>
                <a:spcPts val="600"/>
              </a:spcAft>
            </a:pPr>
            <a:r>
              <a:rPr sz="1400">
                <a:solidFill>
                  <a:srgbClr val="333333"/>
                </a:solidFill>
              </a:rPr>
              <a:t>• Three common limitations when applied to ME-HSI:</a:t>
            </a:r>
          </a:p>
          <a:p>
            <a:pPr algn="l" lvl="1">
              <a:spcAft>
                <a:spcPts val="600"/>
              </a:spcAft>
            </a:pPr>
            <a:r>
              <a:rPr sz="1100">
                <a:solidFill>
                  <a:srgbClr val="333333"/>
                </a:solidFill>
              </a:rPr>
              <a:t>– Most assume a 3D structure (x, y, λ) — they don't model cross-excitation correlation</a:t>
            </a:r>
          </a:p>
          <a:p>
            <a:pPr algn="l" lvl="1">
              <a:spcAft>
                <a:spcPts val="600"/>
              </a:spcAft>
            </a:pPr>
            <a:r>
              <a:rPr sz="1100">
                <a:solidFill>
                  <a:srgbClr val="333333"/>
                </a:solidFill>
              </a:rPr>
              <a:t>– Most treat bands independently — they miss the joint (λ_ex, λ_em) signal</a:t>
            </a:r>
          </a:p>
          <a:p>
            <a:pPr algn="l" lvl="1">
              <a:spcAft>
                <a:spcPts val="600"/>
              </a:spcAft>
            </a:pPr>
            <a:r>
              <a:rPr sz="1100">
                <a:solidFill>
                  <a:srgbClr val="333333"/>
                </a:solidFill>
              </a:rPr>
              <a:t>– Most need labels — supervised, label-hungry, can't be deployed on unlabeled data</a:t>
            </a:r>
          </a:p>
          <a:p>
            <a:pPr algn="l">
              <a:spcAft>
                <a:spcPts val="600"/>
              </a:spcAft>
            </a:pPr>
            <a:r>
              <a:rPr sz="1400">
                <a:solidFill>
                  <a:srgbClr val="333333"/>
                </a:solidFill>
              </a:rPr>
              <a:t>• → Gap: no unsupervised, 4D-aware method that captures cross-excitation correlations</a:t>
            </a:r>
          </a:p>
        </p:txBody>
      </p:sp>
      <p:sp>
        <p:nvSpPr>
          <p:cNvPr id="5" name="TextBox 4"/>
          <p:cNvSpPr txBox="1"/>
          <p:nvPr/>
        </p:nvSpPr>
        <p:spPr>
          <a:xfrm>
            <a:off x="365760" y="6492240"/>
            <a:ext cx="6400800" cy="274320"/>
          </a:xfrm>
          <a:prstGeom prst="rect">
            <a:avLst/>
          </a:prstGeom>
          <a:noFill/>
        </p:spPr>
        <p:txBody>
          <a:bodyPr wrap="square" anchor="t">
            <a:spAutoFit/>
          </a:bodyPr>
          <a:lstStyle/>
          <a:p>
            <a:pPr algn="l"/>
            <a:r>
              <a:rPr sz="900" b="0" i="1">
                <a:solidFill>
                  <a:srgbClr val="888888"/>
                </a:solidFill>
              </a:rPr>
              <a:t>Master's Thesis Defense — Narek Meloyan — 2026</a:t>
            </a:r>
          </a:p>
        </p:txBody>
      </p:sp>
      <p:sp>
        <p:nvSpPr>
          <p:cNvPr id="6" name="TextBox 5"/>
          <p:cNvSpPr txBox="1"/>
          <p:nvPr/>
        </p:nvSpPr>
        <p:spPr>
          <a:xfrm>
            <a:off x="11155680" y="6492240"/>
            <a:ext cx="731520" cy="274320"/>
          </a:xfrm>
          <a:prstGeom prst="rect">
            <a:avLst/>
          </a:prstGeom>
          <a:noFill/>
        </p:spPr>
        <p:txBody>
          <a:bodyPr wrap="square" anchor="t">
            <a:spAutoFit/>
          </a:bodyPr>
          <a:lstStyle/>
          <a:p>
            <a:pPr algn="r"/>
            <a:r>
              <a:rPr sz="900" b="0" i="0">
                <a:solidFill>
                  <a:srgbClr val="888888"/>
                </a:solidFill>
              </a:rPr>
              <a:t>11 / 31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48640"/>
          </a:xfrm>
          <a:prstGeom prst="rect">
            <a:avLst/>
          </a:prstGeom>
          <a:noFill/>
        </p:spPr>
        <p:txBody>
          <a:bodyPr wrap="square" anchor="ctr">
            <a:spAutoFit/>
          </a:bodyPr>
          <a:lstStyle/>
          <a:p>
            <a:pPr algn="l"/>
            <a:r>
              <a:rPr sz="2600" b="1" i="0">
                <a:solidFill>
                  <a:srgbClr val="FFFFFF"/>
                </a:solidFill>
              </a:rPr>
              <a:t>Contributions of this thesis</a:t>
            </a:r>
          </a:p>
        </p:txBody>
      </p:sp>
      <p:sp>
        <p:nvSpPr>
          <p:cNvPr id="4" name="TextBox 3"/>
          <p:cNvSpPr txBox="1"/>
          <p:nvPr/>
        </p:nvSpPr>
        <p:spPr>
          <a:xfrm>
            <a:off x="457200" y="1097280"/>
            <a:ext cx="11338560" cy="5029200"/>
          </a:xfrm>
          <a:prstGeom prst="rect">
            <a:avLst/>
          </a:prstGeom>
          <a:noFill/>
        </p:spPr>
        <p:txBody>
          <a:bodyPr wrap="square">
            <a:spAutoFit/>
          </a:bodyPr>
          <a:lstStyle/>
          <a:p>
            <a:pPr algn="l">
              <a:spcAft>
                <a:spcPts val="600"/>
              </a:spcAft>
            </a:pPr>
            <a:r>
              <a:rPr sz="1400">
                <a:solidFill>
                  <a:srgbClr val="333333"/>
                </a:solidFill>
              </a:rPr>
              <a:t>• Architectural: a 3D convolutional autoencoder for 4D ME-HSI</a:t>
            </a:r>
          </a:p>
          <a:p>
            <a:pPr algn="l" lvl="1">
              <a:spcAft>
                <a:spcPts val="600"/>
              </a:spcAft>
            </a:pPr>
            <a:r>
              <a:rPr sz="1100">
                <a:solidFill>
                  <a:srgbClr val="333333"/>
                </a:solidFill>
              </a:rPr>
              <a:t>– Parallel encoder branches per excitation handle variable emission counts after Rayleigh cutoff</a:t>
            </a:r>
          </a:p>
          <a:p>
            <a:pPr algn="l" lvl="1">
              <a:spcAft>
                <a:spcPts val="600"/>
              </a:spcAft>
            </a:pPr>
            <a:r>
              <a:rPr sz="1100">
                <a:solidFill>
                  <a:srgbClr val="333333"/>
                </a:solidFill>
              </a:rPr>
              <a:t>– Excitation-averaging operator captures cross-excitation correlations in a shared latent representation</a:t>
            </a:r>
          </a:p>
          <a:p>
            <a:pPr algn="l">
              <a:spcAft>
                <a:spcPts val="600"/>
              </a:spcAft>
            </a:pPr>
            <a:r>
              <a:rPr sz="1400">
                <a:solidFill>
                  <a:srgbClr val="333333"/>
                </a:solidFill>
              </a:rPr>
              <a:t>• Methodological: perturbation-based wavelength attribution</a:t>
            </a:r>
          </a:p>
          <a:p>
            <a:pPr algn="l" lvl="1">
              <a:spcAft>
                <a:spcPts val="600"/>
              </a:spcAft>
            </a:pPr>
            <a:r>
              <a:rPr sz="1100">
                <a:solidFill>
                  <a:srgbClr val="333333"/>
                </a:solidFill>
              </a:rPr>
              <a:t>– Finite-difference Jacobian of reconstruction w.r.t. latent dimensions</a:t>
            </a:r>
          </a:p>
          <a:p>
            <a:pPr algn="l" lvl="1">
              <a:spcAft>
                <a:spcPts val="600"/>
              </a:spcAft>
            </a:pPr>
            <a:r>
              <a:rPr sz="1100">
                <a:solidFill>
                  <a:srgbClr val="333333"/>
                </a:solidFill>
              </a:rPr>
              <a:t>– Produces a causal influence matrix in the (λ_ex, λ_em) space</a:t>
            </a:r>
          </a:p>
          <a:p>
            <a:pPr algn="l" lvl="1">
              <a:spcAft>
                <a:spcPts val="600"/>
              </a:spcAft>
            </a:pPr>
            <a:r>
              <a:rPr sz="1100">
                <a:solidFill>
                  <a:srgbClr val="333333"/>
                </a:solidFill>
              </a:rPr>
              <a:t>– MMR diversity term prevents redundant selections</a:t>
            </a:r>
          </a:p>
          <a:p>
            <a:pPr algn="l">
              <a:spcAft>
                <a:spcPts val="600"/>
              </a:spcAft>
            </a:pPr>
            <a:r>
              <a:rPr sz="1400">
                <a:solidFill>
                  <a:srgbClr val="333333"/>
                </a:solidFill>
              </a:rPr>
              <a:t>• Empirical: evaluation on Lichens (4 classes, 192 bands) and Collagen Sponges (3 classes, 158 bands)</a:t>
            </a:r>
          </a:p>
          <a:p>
            <a:pPr algn="l">
              <a:spcAft>
                <a:spcPts val="600"/>
              </a:spcAft>
            </a:pPr>
            <a:r>
              <a:rPr sz="1400">
                <a:solidFill>
                  <a:srgbClr val="333333"/>
                </a:solidFill>
              </a:rPr>
              <a:t>• Validation: robustness vs 10,000 random selections + classifier-family generalization across 10 algorithms</a:t>
            </a:r>
          </a:p>
        </p:txBody>
      </p:sp>
      <p:sp>
        <p:nvSpPr>
          <p:cNvPr id="5" name="TextBox 4"/>
          <p:cNvSpPr txBox="1"/>
          <p:nvPr/>
        </p:nvSpPr>
        <p:spPr>
          <a:xfrm>
            <a:off x="365760" y="6492240"/>
            <a:ext cx="6400800" cy="274320"/>
          </a:xfrm>
          <a:prstGeom prst="rect">
            <a:avLst/>
          </a:prstGeom>
          <a:noFill/>
        </p:spPr>
        <p:txBody>
          <a:bodyPr wrap="square" anchor="t">
            <a:spAutoFit/>
          </a:bodyPr>
          <a:lstStyle/>
          <a:p>
            <a:pPr algn="l"/>
            <a:r>
              <a:rPr sz="900" b="0" i="1">
                <a:solidFill>
                  <a:srgbClr val="888888"/>
                </a:solidFill>
              </a:rPr>
              <a:t>Master's Thesis Defense — Narek Meloyan — 2026</a:t>
            </a:r>
          </a:p>
        </p:txBody>
      </p:sp>
      <p:sp>
        <p:nvSpPr>
          <p:cNvPr id="6" name="TextBox 5"/>
          <p:cNvSpPr txBox="1"/>
          <p:nvPr/>
        </p:nvSpPr>
        <p:spPr>
          <a:xfrm>
            <a:off x="11155680" y="6492240"/>
            <a:ext cx="731520" cy="274320"/>
          </a:xfrm>
          <a:prstGeom prst="rect">
            <a:avLst/>
          </a:prstGeom>
          <a:noFill/>
        </p:spPr>
        <p:txBody>
          <a:bodyPr wrap="square" anchor="t">
            <a:spAutoFit/>
          </a:bodyPr>
          <a:lstStyle/>
          <a:p>
            <a:pPr algn="r"/>
            <a:r>
              <a:rPr sz="900" b="0" i="0">
                <a:solidFill>
                  <a:srgbClr val="888888"/>
                </a:solidFill>
              </a:rPr>
              <a:t>12 / 31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48640"/>
          </a:xfrm>
          <a:prstGeom prst="rect">
            <a:avLst/>
          </a:prstGeom>
          <a:noFill/>
        </p:spPr>
        <p:txBody>
          <a:bodyPr wrap="square" anchor="ctr">
            <a:spAutoFit/>
          </a:bodyPr>
          <a:lstStyle/>
          <a:p>
            <a:pPr algn="l"/>
            <a:r>
              <a:rPr sz="2600" b="1" i="0">
                <a:solidFill>
                  <a:srgbClr val="FFFFFF"/>
                </a:solidFill>
              </a:rPr>
              <a:t>Method overview: three stages</a:t>
            </a:r>
          </a:p>
        </p:txBody>
      </p:sp>
      <p:sp>
        <p:nvSpPr>
          <p:cNvPr id="4" name="Rounded Rectangle 3"/>
          <p:cNvSpPr/>
          <p:nvPr/>
        </p:nvSpPr>
        <p:spPr>
          <a:xfrm>
            <a:off x="457200" y="1645920"/>
            <a:ext cx="3474720" cy="2194560"/>
          </a:xfrm>
          <a:prstGeom prst="roundRect">
            <a:avLst/>
          </a:prstGeom>
          <a:solidFill>
            <a:srgbClr val="E8EEF6"/>
          </a:solidFill>
          <a:ln w="15240">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737360"/>
            <a:ext cx="3474720" cy="731520"/>
          </a:xfrm>
          <a:prstGeom prst="rect">
            <a:avLst/>
          </a:prstGeom>
          <a:noFill/>
        </p:spPr>
        <p:txBody>
          <a:bodyPr wrap="square" anchor="ctr">
            <a:spAutoFit/>
          </a:bodyPr>
          <a:lstStyle/>
          <a:p>
            <a:pPr algn="ctr"/>
            <a:r>
              <a:rPr sz="1600" b="1" i="0">
                <a:solidFill>
                  <a:srgbClr val="1F4E79"/>
                </a:solidFill>
              </a:rPr>
              <a:t>Stage 1
Representation learning</a:t>
            </a:r>
          </a:p>
        </p:txBody>
      </p:sp>
      <p:sp>
        <p:nvSpPr>
          <p:cNvPr id="6" name="TextBox 5"/>
          <p:cNvSpPr txBox="1"/>
          <p:nvPr/>
        </p:nvSpPr>
        <p:spPr>
          <a:xfrm>
            <a:off x="457200" y="2514600"/>
            <a:ext cx="3474720" cy="1371600"/>
          </a:xfrm>
          <a:prstGeom prst="rect">
            <a:avLst/>
          </a:prstGeom>
          <a:noFill/>
        </p:spPr>
        <p:txBody>
          <a:bodyPr wrap="square" anchor="t">
            <a:spAutoFit/>
          </a:bodyPr>
          <a:lstStyle/>
          <a:p>
            <a:pPr algn="ctr"/>
            <a:r>
              <a:rPr sz="1300" b="0" i="0">
                <a:solidFill>
                  <a:srgbClr val="333333"/>
                </a:solidFill>
              </a:rPr>
              <a:t>3D CAE with parallel
excitation branches
→ shared latent z ∈ ℝ²⁰</a:t>
            </a:r>
          </a:p>
        </p:txBody>
      </p:sp>
      <p:sp>
        <p:nvSpPr>
          <p:cNvPr id="7" name="Rounded Rectangle 6"/>
          <p:cNvSpPr/>
          <p:nvPr/>
        </p:nvSpPr>
        <p:spPr>
          <a:xfrm>
            <a:off x="4389120" y="1645920"/>
            <a:ext cx="3474720" cy="2194560"/>
          </a:xfrm>
          <a:prstGeom prst="roundRect">
            <a:avLst/>
          </a:prstGeom>
          <a:solidFill>
            <a:srgbClr val="E8EEF6"/>
          </a:solidFill>
          <a:ln w="15240">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89120" y="1737360"/>
            <a:ext cx="3474720" cy="731520"/>
          </a:xfrm>
          <a:prstGeom prst="rect">
            <a:avLst/>
          </a:prstGeom>
          <a:noFill/>
        </p:spPr>
        <p:txBody>
          <a:bodyPr wrap="square" anchor="ctr">
            <a:spAutoFit/>
          </a:bodyPr>
          <a:lstStyle/>
          <a:p>
            <a:pPr algn="ctr"/>
            <a:r>
              <a:rPr sz="1600" b="1" i="0">
                <a:solidFill>
                  <a:srgbClr val="1F4E79"/>
                </a:solidFill>
              </a:rPr>
              <a:t>Stage 2
Attribution</a:t>
            </a:r>
          </a:p>
        </p:txBody>
      </p:sp>
      <p:sp>
        <p:nvSpPr>
          <p:cNvPr id="9" name="TextBox 8"/>
          <p:cNvSpPr txBox="1"/>
          <p:nvPr/>
        </p:nvSpPr>
        <p:spPr>
          <a:xfrm>
            <a:off x="4389120" y="2514600"/>
            <a:ext cx="3474720" cy="1371600"/>
          </a:xfrm>
          <a:prstGeom prst="rect">
            <a:avLst/>
          </a:prstGeom>
          <a:noFill/>
        </p:spPr>
        <p:txBody>
          <a:bodyPr wrap="square" anchor="t">
            <a:spAutoFit/>
          </a:bodyPr>
          <a:lstStyle/>
          <a:p>
            <a:pPr algn="ctr"/>
            <a:r>
              <a:rPr sz="1300" b="0" i="0">
                <a:solidFill>
                  <a:srgbClr val="333333"/>
                </a:solidFill>
              </a:rPr>
              <a:t>Latent-space perturbation
produces influence matrix
Δ(λ_ex, λ_em)</a:t>
            </a:r>
          </a:p>
        </p:txBody>
      </p:sp>
      <p:sp>
        <p:nvSpPr>
          <p:cNvPr id="10" name="Rounded Rectangle 9"/>
          <p:cNvSpPr/>
          <p:nvPr/>
        </p:nvSpPr>
        <p:spPr>
          <a:xfrm>
            <a:off x="8321040" y="1645920"/>
            <a:ext cx="3474720" cy="2194560"/>
          </a:xfrm>
          <a:prstGeom prst="roundRect">
            <a:avLst/>
          </a:prstGeom>
          <a:solidFill>
            <a:srgbClr val="E8EEF6"/>
          </a:solidFill>
          <a:ln w="15240">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21040" y="1737360"/>
            <a:ext cx="3474720" cy="731520"/>
          </a:xfrm>
          <a:prstGeom prst="rect">
            <a:avLst/>
          </a:prstGeom>
          <a:noFill/>
        </p:spPr>
        <p:txBody>
          <a:bodyPr wrap="square" anchor="ctr">
            <a:spAutoFit/>
          </a:bodyPr>
          <a:lstStyle/>
          <a:p>
            <a:pPr algn="ctr"/>
            <a:r>
              <a:rPr sz="1600" b="1" i="0">
                <a:solidFill>
                  <a:srgbClr val="1F4E79"/>
                </a:solidFill>
              </a:rPr>
              <a:t>Stage 3
Selection</a:t>
            </a:r>
          </a:p>
        </p:txBody>
      </p:sp>
      <p:sp>
        <p:nvSpPr>
          <p:cNvPr id="12" name="TextBox 11"/>
          <p:cNvSpPr txBox="1"/>
          <p:nvPr/>
        </p:nvSpPr>
        <p:spPr>
          <a:xfrm>
            <a:off x="8321040" y="2514600"/>
            <a:ext cx="3474720" cy="1371600"/>
          </a:xfrm>
          <a:prstGeom prst="rect">
            <a:avLst/>
          </a:prstGeom>
          <a:noFill/>
        </p:spPr>
        <p:txBody>
          <a:bodyPr wrap="square" anchor="t">
            <a:spAutoFit/>
          </a:bodyPr>
          <a:lstStyle/>
          <a:p>
            <a:pPr algn="ctr"/>
            <a:r>
              <a:rPr sz="1300" b="0" i="0">
                <a:solidFill>
                  <a:srgbClr val="333333"/>
                </a:solidFill>
              </a:rPr>
              <a:t>MMR greedy:
λ·Rel(w) − (1−λ)·max Sim
→ top-K bands</a:t>
            </a:r>
          </a:p>
        </p:txBody>
      </p:sp>
      <p:sp>
        <p:nvSpPr>
          <p:cNvPr id="13" name="TextBox 12"/>
          <p:cNvSpPr txBox="1"/>
          <p:nvPr/>
        </p:nvSpPr>
        <p:spPr>
          <a:xfrm>
            <a:off x="3931920" y="2697480"/>
            <a:ext cx="457200" cy="365760"/>
          </a:xfrm>
          <a:prstGeom prst="rect">
            <a:avLst/>
          </a:prstGeom>
          <a:noFill/>
        </p:spPr>
        <p:txBody>
          <a:bodyPr wrap="square" anchor="t">
            <a:spAutoFit/>
          </a:bodyPr>
          <a:lstStyle/>
          <a:p>
            <a:pPr algn="ctr"/>
            <a:r>
              <a:rPr sz="3200" b="0" i="0">
                <a:solidFill>
                  <a:srgbClr val="1F4E79"/>
                </a:solidFill>
              </a:rPr>
              <a:t>→</a:t>
            </a:r>
          </a:p>
        </p:txBody>
      </p:sp>
      <p:sp>
        <p:nvSpPr>
          <p:cNvPr id="14" name="TextBox 13"/>
          <p:cNvSpPr txBox="1"/>
          <p:nvPr/>
        </p:nvSpPr>
        <p:spPr>
          <a:xfrm>
            <a:off x="7863840" y="2697480"/>
            <a:ext cx="457200" cy="365760"/>
          </a:xfrm>
          <a:prstGeom prst="rect">
            <a:avLst/>
          </a:prstGeom>
          <a:noFill/>
        </p:spPr>
        <p:txBody>
          <a:bodyPr wrap="square" anchor="t">
            <a:spAutoFit/>
          </a:bodyPr>
          <a:lstStyle/>
          <a:p>
            <a:pPr algn="ctr"/>
            <a:r>
              <a:rPr sz="3200" b="0" i="0">
                <a:solidFill>
                  <a:srgbClr val="1F4E79"/>
                </a:solidFill>
              </a:rPr>
              <a:t>→</a:t>
            </a:r>
          </a:p>
        </p:txBody>
      </p:sp>
      <p:sp>
        <p:nvSpPr>
          <p:cNvPr id="15" name="TextBox 14"/>
          <p:cNvSpPr txBox="1"/>
          <p:nvPr/>
        </p:nvSpPr>
        <p:spPr>
          <a:xfrm>
            <a:off x="457200" y="4297680"/>
            <a:ext cx="11338560" cy="2011680"/>
          </a:xfrm>
          <a:prstGeom prst="rect">
            <a:avLst/>
          </a:prstGeom>
          <a:noFill/>
        </p:spPr>
        <p:txBody>
          <a:bodyPr wrap="square">
            <a:spAutoFit/>
          </a:bodyPr>
          <a:lstStyle/>
          <a:p>
            <a:pPr algn="l">
              <a:spcAft>
                <a:spcPts val="600"/>
              </a:spcAft>
            </a:pPr>
            <a:r>
              <a:rPr sz="1500">
                <a:solidFill>
                  <a:srgbClr val="333333"/>
                </a:solidFill>
              </a:rPr>
              <a:t>• Entirely unsupervised: no labels used in any of the three stages</a:t>
            </a:r>
          </a:p>
          <a:p>
            <a:pPr algn="l">
              <a:spcAft>
                <a:spcPts val="600"/>
              </a:spcAft>
            </a:pPr>
            <a:r>
              <a:rPr sz="1500">
                <a:solidFill>
                  <a:srgbClr val="333333"/>
                </a:solidFill>
              </a:rPr>
              <a:t>• Output: an ordered list of K (λ_ex, λ_em) pairs — threshold at any K</a:t>
            </a:r>
          </a:p>
          <a:p>
            <a:pPr algn="l">
              <a:spcAft>
                <a:spcPts val="600"/>
              </a:spcAft>
            </a:pPr>
            <a:r>
              <a:rPr sz="1500">
                <a:solidFill>
                  <a:srgbClr val="333333"/>
                </a:solidFill>
              </a:rPr>
              <a:t>• Same pipeline applies to both datasets without retuning</a:t>
            </a:r>
          </a:p>
        </p:txBody>
      </p:sp>
      <p:sp>
        <p:nvSpPr>
          <p:cNvPr id="16" name="TextBox 15"/>
          <p:cNvSpPr txBox="1"/>
          <p:nvPr/>
        </p:nvSpPr>
        <p:spPr>
          <a:xfrm>
            <a:off x="365760" y="6492240"/>
            <a:ext cx="6400800" cy="274320"/>
          </a:xfrm>
          <a:prstGeom prst="rect">
            <a:avLst/>
          </a:prstGeom>
          <a:noFill/>
        </p:spPr>
        <p:txBody>
          <a:bodyPr wrap="square" anchor="t">
            <a:spAutoFit/>
          </a:bodyPr>
          <a:lstStyle/>
          <a:p>
            <a:pPr algn="l"/>
            <a:r>
              <a:rPr sz="900" b="0" i="1">
                <a:solidFill>
                  <a:srgbClr val="888888"/>
                </a:solidFill>
              </a:rPr>
              <a:t>Master's Thesis Defense — Narek Meloyan — 2026</a:t>
            </a:r>
          </a:p>
        </p:txBody>
      </p:sp>
      <p:sp>
        <p:nvSpPr>
          <p:cNvPr id="17" name="TextBox 16"/>
          <p:cNvSpPr txBox="1"/>
          <p:nvPr/>
        </p:nvSpPr>
        <p:spPr>
          <a:xfrm>
            <a:off x="11155680" y="6492240"/>
            <a:ext cx="731520" cy="274320"/>
          </a:xfrm>
          <a:prstGeom prst="rect">
            <a:avLst/>
          </a:prstGeom>
          <a:noFill/>
        </p:spPr>
        <p:txBody>
          <a:bodyPr wrap="square" anchor="t">
            <a:spAutoFit/>
          </a:bodyPr>
          <a:lstStyle/>
          <a:p>
            <a:pPr algn="r"/>
            <a:r>
              <a:rPr sz="900" b="0" i="0">
                <a:solidFill>
                  <a:srgbClr val="888888"/>
                </a:solidFill>
              </a:rPr>
              <a:t>13 / 31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48640"/>
          </a:xfrm>
          <a:prstGeom prst="rect">
            <a:avLst/>
          </a:prstGeom>
          <a:noFill/>
        </p:spPr>
        <p:txBody>
          <a:bodyPr wrap="square" anchor="ctr">
            <a:spAutoFit/>
          </a:bodyPr>
          <a:lstStyle/>
          <a:p>
            <a:pPr algn="l"/>
            <a:r>
              <a:rPr sz="2600" b="1" i="0">
                <a:solidFill>
                  <a:srgbClr val="FFFFFF"/>
                </a:solidFill>
              </a:rPr>
              <a:t>Stage 1: 3D CAE with parallel branches</a:t>
            </a:r>
          </a:p>
        </p:txBody>
      </p:sp>
      <p:sp>
        <p:nvSpPr>
          <p:cNvPr id="4" name="TextBox 3"/>
          <p:cNvSpPr txBox="1"/>
          <p:nvPr/>
        </p:nvSpPr>
        <p:spPr>
          <a:xfrm>
            <a:off x="457200" y="1097280"/>
            <a:ext cx="6400800" cy="5029200"/>
          </a:xfrm>
          <a:prstGeom prst="rect">
            <a:avLst/>
          </a:prstGeom>
          <a:noFill/>
        </p:spPr>
        <p:txBody>
          <a:bodyPr wrap="square">
            <a:spAutoFit/>
          </a:bodyPr>
          <a:lstStyle/>
          <a:p>
            <a:pPr algn="l">
              <a:spcAft>
                <a:spcPts val="600"/>
              </a:spcAft>
            </a:pPr>
            <a:r>
              <a:rPr sz="1400">
                <a:solidFill>
                  <a:srgbClr val="333333"/>
                </a:solidFill>
              </a:rPr>
              <a:t>• One Conv3D encoder branch per excitation λ_ex</a:t>
            </a:r>
          </a:p>
          <a:p>
            <a:pPr algn="l" lvl="1">
              <a:spcAft>
                <a:spcPts val="600"/>
              </a:spcAft>
            </a:pPr>
            <a:r>
              <a:rPr sz="1100">
                <a:solidFill>
                  <a:srgbClr val="333333"/>
                </a:solidFill>
              </a:rPr>
              <a:t>– Input: cube X⁽ⁱ⁾ of shape (H, W, N_em(λ_ex))</a:t>
            </a:r>
          </a:p>
          <a:p>
            <a:pPr algn="l" lvl="1">
              <a:spcAft>
                <a:spcPts val="600"/>
              </a:spcAft>
            </a:pPr>
            <a:r>
              <a:rPr sz="1100">
                <a:solidFill>
                  <a:srgbClr val="333333"/>
                </a:solidFill>
              </a:rPr>
              <a:t>– Filter size 5 × 5 × min(5, N_em); k₁ = 20 filters</a:t>
            </a:r>
          </a:p>
          <a:p>
            <a:pPr algn="l">
              <a:spcAft>
                <a:spcPts val="600"/>
              </a:spcAft>
            </a:pPr>
            <a:r>
              <a:rPr sz="1400">
                <a:solidFill>
                  <a:srgbClr val="333333"/>
                </a:solidFill>
              </a:rPr>
              <a:t>• Adaptive pooling standardises the spectral dim to 1</a:t>
            </a:r>
          </a:p>
          <a:p>
            <a:pPr algn="l">
              <a:spcAft>
                <a:spcPts val="600"/>
              </a:spcAft>
            </a:pPr>
            <a:r>
              <a:rPr sz="1400">
                <a:solidFill>
                  <a:srgbClr val="333333"/>
                </a:solidFill>
              </a:rPr>
              <a:t>• Excitation averaging → shared latent z ∈ ℝ²⁰</a:t>
            </a:r>
          </a:p>
          <a:p>
            <a:pPr algn="l" lvl="1">
              <a:spcAft>
                <a:spcPts val="600"/>
              </a:spcAft>
            </a:pPr>
            <a:r>
              <a:rPr sz="1100">
                <a:solidFill>
                  <a:srgbClr val="333333"/>
                </a:solidFill>
              </a:rPr>
              <a:t>– h̄ = (1 / N_ex) Σᵢ h⁽ⁱ⁾</a:t>
            </a:r>
          </a:p>
          <a:p>
            <a:pPr algn="l" lvl="1">
              <a:spcAft>
                <a:spcPts val="600"/>
              </a:spcAft>
            </a:pPr>
            <a:r>
              <a:rPr sz="1100">
                <a:solidFill>
                  <a:srgbClr val="333333"/>
                </a:solidFill>
              </a:rPr>
              <a:t>– Captures cross-excitation correlations — the ME-HSI-specific 4D signal</a:t>
            </a:r>
          </a:p>
          <a:p>
            <a:pPr algn="l">
              <a:spcAft>
                <a:spcPts val="600"/>
              </a:spcAft>
            </a:pPr>
            <a:r>
              <a:rPr sz="1400">
                <a:solidFill>
                  <a:srgbClr val="333333"/>
                </a:solidFill>
              </a:rPr>
              <a:t>• Symmetric Conv3D decoder reconstructs each excitation</a:t>
            </a:r>
          </a:p>
          <a:p>
            <a:pPr algn="l">
              <a:spcAft>
                <a:spcPts val="600"/>
              </a:spcAft>
            </a:pPr>
            <a:r>
              <a:rPr sz="1400">
                <a:solidFill>
                  <a:srgbClr val="333333"/>
                </a:solidFill>
              </a:rPr>
              <a:t>• Loss: masked MSE; 64×64 patches; Adam at lr=10⁻³; converges in 25-30 epochs</a:t>
            </a:r>
          </a:p>
        </p:txBody>
      </p:sp>
      <p:sp>
        <p:nvSpPr>
          <p:cNvPr id="5" name="TextBox 4"/>
          <p:cNvSpPr txBox="1"/>
          <p:nvPr/>
        </p:nvSpPr>
        <p:spPr>
          <a:xfrm>
            <a:off x="7223760" y="1280160"/>
            <a:ext cx="4572000" cy="457200"/>
          </a:xfrm>
          <a:prstGeom prst="rect">
            <a:avLst/>
          </a:prstGeom>
          <a:noFill/>
        </p:spPr>
        <p:txBody>
          <a:bodyPr wrap="square" anchor="t">
            <a:spAutoFit/>
          </a:bodyPr>
          <a:lstStyle/>
          <a:p>
            <a:pPr algn="l"/>
            <a:r>
              <a:rPr sz="1600" b="1" i="0">
                <a:solidFill>
                  <a:srgbClr val="1F4E79"/>
                </a:solidFill>
              </a:rPr>
              <a:t>Why parallel branches?</a:t>
            </a:r>
          </a:p>
        </p:txBody>
      </p:sp>
      <p:sp>
        <p:nvSpPr>
          <p:cNvPr id="6" name="TextBox 5"/>
          <p:cNvSpPr txBox="1"/>
          <p:nvPr/>
        </p:nvSpPr>
        <p:spPr>
          <a:xfrm>
            <a:off x="7223760" y="1737360"/>
            <a:ext cx="4572000" cy="4114800"/>
          </a:xfrm>
          <a:prstGeom prst="rect">
            <a:avLst/>
          </a:prstGeom>
          <a:noFill/>
        </p:spPr>
        <p:txBody>
          <a:bodyPr wrap="square">
            <a:spAutoFit/>
          </a:bodyPr>
          <a:lstStyle/>
          <a:p>
            <a:pPr algn="l">
              <a:spcAft>
                <a:spcPts val="600"/>
              </a:spcAft>
            </a:pPr>
            <a:r>
              <a:rPr sz="1300">
                <a:solidFill>
                  <a:srgbClr val="333333"/>
                </a:solidFill>
              </a:rPr>
              <a:t>• Variable N_em per excitation</a:t>
            </a:r>
          </a:p>
          <a:p>
            <a:pPr algn="l" lvl="1">
              <a:spcAft>
                <a:spcPts val="600"/>
              </a:spcAft>
            </a:pPr>
            <a:r>
              <a:rPr sz="1000">
                <a:solidFill>
                  <a:srgbClr val="333333"/>
                </a:solidFill>
              </a:rPr>
              <a:t>– Rayleigh cutoff: each λ_ex has a different valid band count</a:t>
            </a:r>
          </a:p>
          <a:p>
            <a:pPr algn="l" lvl="1">
              <a:spcAft>
                <a:spcPts val="600"/>
              </a:spcAft>
            </a:pPr>
            <a:r>
              <a:rPr sz="1000">
                <a:solidFill>
                  <a:srgbClr val="333333"/>
                </a:solidFill>
              </a:rPr>
              <a:t>– A monolithic kernel would need padding + masking complications</a:t>
            </a:r>
          </a:p>
          <a:p>
            <a:pPr algn="l">
              <a:spcAft>
                <a:spcPts val="600"/>
              </a:spcAft>
            </a:pPr>
            <a:r>
              <a:rPr sz="1300">
                <a:solidFill>
                  <a:srgbClr val="333333"/>
                </a:solidFill>
              </a:rPr>
              <a:t>• Excitation averaging captures</a:t>
            </a:r>
          </a:p>
          <a:p>
            <a:pPr algn="l" lvl="1">
              <a:spcAft>
                <a:spcPts val="600"/>
              </a:spcAft>
            </a:pPr>
            <a:r>
              <a:rPr sz="1000">
                <a:solidFill>
                  <a:srgbClr val="333333"/>
                </a:solidFill>
              </a:rPr>
              <a:t>– cross-excitation correlations</a:t>
            </a:r>
          </a:p>
          <a:p>
            <a:pPr algn="l" lvl="1">
              <a:spcAft>
                <a:spcPts val="600"/>
              </a:spcAft>
            </a:pPr>
            <a:r>
              <a:rPr sz="1000">
                <a:solidFill>
                  <a:srgbClr val="333333"/>
                </a:solidFill>
              </a:rPr>
              <a:t>– the ME-HSI-specific 4D signal</a:t>
            </a:r>
          </a:p>
          <a:p>
            <a:pPr algn="l" lvl="1">
              <a:spcAft>
                <a:spcPts val="600"/>
              </a:spcAft>
            </a:pPr>
            <a:r>
              <a:rPr sz="1000">
                <a:solidFill>
                  <a:srgbClr val="333333"/>
                </a:solidFill>
              </a:rPr>
              <a:t>– patterns invisible to per-band methods</a:t>
            </a:r>
          </a:p>
        </p:txBody>
      </p:sp>
      <p:sp>
        <p:nvSpPr>
          <p:cNvPr id="7" name="TextBox 6"/>
          <p:cNvSpPr txBox="1"/>
          <p:nvPr/>
        </p:nvSpPr>
        <p:spPr>
          <a:xfrm>
            <a:off x="365760" y="6492240"/>
            <a:ext cx="6400800" cy="274320"/>
          </a:xfrm>
          <a:prstGeom prst="rect">
            <a:avLst/>
          </a:prstGeom>
          <a:noFill/>
        </p:spPr>
        <p:txBody>
          <a:bodyPr wrap="square" anchor="t">
            <a:spAutoFit/>
          </a:bodyPr>
          <a:lstStyle/>
          <a:p>
            <a:pPr algn="l"/>
            <a:r>
              <a:rPr sz="900" b="0" i="1">
                <a:solidFill>
                  <a:srgbClr val="888888"/>
                </a:solidFill>
              </a:rPr>
              <a:t>Master's Thesis Defense — Narek Meloyan — 2026</a:t>
            </a:r>
          </a:p>
        </p:txBody>
      </p:sp>
      <p:sp>
        <p:nvSpPr>
          <p:cNvPr id="8" name="TextBox 7"/>
          <p:cNvSpPr txBox="1"/>
          <p:nvPr/>
        </p:nvSpPr>
        <p:spPr>
          <a:xfrm>
            <a:off x="11155680" y="6492240"/>
            <a:ext cx="731520" cy="274320"/>
          </a:xfrm>
          <a:prstGeom prst="rect">
            <a:avLst/>
          </a:prstGeom>
          <a:noFill/>
        </p:spPr>
        <p:txBody>
          <a:bodyPr wrap="square" anchor="t">
            <a:spAutoFit/>
          </a:bodyPr>
          <a:lstStyle/>
          <a:p>
            <a:pPr algn="r"/>
            <a:r>
              <a:rPr sz="900" b="0" i="0">
                <a:solidFill>
                  <a:srgbClr val="888888"/>
                </a:solidFill>
              </a:rPr>
              <a:t>14 / 31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48640"/>
          </a:xfrm>
          <a:prstGeom prst="rect">
            <a:avLst/>
          </a:prstGeom>
          <a:noFill/>
        </p:spPr>
        <p:txBody>
          <a:bodyPr wrap="square" anchor="ctr">
            <a:spAutoFit/>
          </a:bodyPr>
          <a:lstStyle/>
          <a:p>
            <a:pPr algn="l"/>
            <a:r>
              <a:rPr sz="2600" b="1" i="0">
                <a:solidFill>
                  <a:srgbClr val="FFFFFF"/>
                </a:solidFill>
              </a:rPr>
              <a:t>Stage 2: Latent-space perturbation</a:t>
            </a:r>
          </a:p>
        </p:txBody>
      </p:sp>
      <p:sp>
        <p:nvSpPr>
          <p:cNvPr id="4" name="TextBox 3"/>
          <p:cNvSpPr txBox="1"/>
          <p:nvPr/>
        </p:nvSpPr>
        <p:spPr>
          <a:xfrm>
            <a:off x="457200" y="1097280"/>
            <a:ext cx="11338560" cy="2103120"/>
          </a:xfrm>
          <a:prstGeom prst="rect">
            <a:avLst/>
          </a:prstGeom>
          <a:noFill/>
        </p:spPr>
        <p:txBody>
          <a:bodyPr wrap="square">
            <a:spAutoFit/>
          </a:bodyPr>
          <a:lstStyle/>
          <a:p>
            <a:pPr algn="l">
              <a:spcAft>
                <a:spcPts val="600"/>
              </a:spcAft>
            </a:pPr>
            <a:r>
              <a:rPr sz="1500">
                <a:solidFill>
                  <a:srgbClr val="333333"/>
                </a:solidFill>
              </a:rPr>
              <a:t>• After training, rank top-k latent dims by variance or PCA loading</a:t>
            </a:r>
          </a:p>
          <a:p>
            <a:pPr algn="l">
              <a:spcAft>
                <a:spcPts val="600"/>
              </a:spcAft>
            </a:pPr>
            <a:r>
              <a:rPr sz="1500">
                <a:solidFill>
                  <a:srgbClr val="333333"/>
                </a:solidFill>
              </a:rPr>
              <a:t>• For each top-k dim d: perturb the code:  z⁺_d = z + ε·σ_d·e_d  and  z⁻_d = z − ε·σ_d·e_d</a:t>
            </a:r>
          </a:p>
          <a:p>
            <a:pPr algn="l">
              <a:spcAft>
                <a:spcPts val="600"/>
              </a:spcAft>
            </a:pPr>
            <a:r>
              <a:rPr sz="1500">
                <a:solidFill>
                  <a:srgbClr val="333333"/>
                </a:solidFill>
              </a:rPr>
              <a:t>• Decode both → measure reconstruction sensitivity at every (λ_ex, λ_em)</a:t>
            </a:r>
          </a:p>
        </p:txBody>
      </p:sp>
      <p:sp>
        <p:nvSpPr>
          <p:cNvPr id="5" name="Rectangle 4"/>
          <p:cNvSpPr/>
          <p:nvPr/>
        </p:nvSpPr>
        <p:spPr>
          <a:xfrm>
            <a:off x="1645920" y="3383280"/>
            <a:ext cx="8869680" cy="914400"/>
          </a:xfrm>
          <a:prstGeom prst="rect">
            <a:avLst/>
          </a:prstGeom>
          <a:solidFill>
            <a:srgbClr val="E8EEF6"/>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645920" y="3429000"/>
            <a:ext cx="8869680" cy="731520"/>
          </a:xfrm>
          <a:prstGeom prst="rect">
            <a:avLst/>
          </a:prstGeom>
          <a:noFill/>
        </p:spPr>
        <p:txBody>
          <a:bodyPr wrap="square" anchor="ctr">
            <a:spAutoFit/>
          </a:bodyPr>
          <a:lstStyle/>
          <a:p>
            <a:pPr algn="ctr"/>
            <a:r>
              <a:rPr sz="1800" b="1" i="0">
                <a:solidFill>
                  <a:srgbClr val="1F4E79"/>
                </a:solidFill>
              </a:rPr>
              <a:t>Δ_d(λ_ex, λ_em) = |G(z⁺_d) − G(z⁻_d)| / (2·ε·σ_d)</a:t>
            </a:r>
          </a:p>
        </p:txBody>
      </p:sp>
      <p:sp>
        <p:nvSpPr>
          <p:cNvPr id="7" name="TextBox 6"/>
          <p:cNvSpPr txBox="1"/>
          <p:nvPr/>
        </p:nvSpPr>
        <p:spPr>
          <a:xfrm>
            <a:off x="1645920" y="4297680"/>
            <a:ext cx="8869680" cy="365760"/>
          </a:xfrm>
          <a:prstGeom prst="rect">
            <a:avLst/>
          </a:prstGeom>
          <a:noFill/>
        </p:spPr>
        <p:txBody>
          <a:bodyPr wrap="square" anchor="t">
            <a:spAutoFit/>
          </a:bodyPr>
          <a:lstStyle/>
          <a:p>
            <a:pPr algn="ctr"/>
            <a:r>
              <a:rPr sz="1200" b="0" i="1">
                <a:solidFill>
                  <a:srgbClr val="888888"/>
                </a:solidFill>
              </a:rPr>
              <a:t>(finite-difference approximation of |∂G/∂z_d|)</a:t>
            </a:r>
          </a:p>
        </p:txBody>
      </p:sp>
      <p:sp>
        <p:nvSpPr>
          <p:cNvPr id="8" name="TextBox 7"/>
          <p:cNvSpPr txBox="1"/>
          <p:nvPr/>
        </p:nvSpPr>
        <p:spPr>
          <a:xfrm>
            <a:off x="457200" y="4846320"/>
            <a:ext cx="11338560" cy="1554480"/>
          </a:xfrm>
          <a:prstGeom prst="rect">
            <a:avLst/>
          </a:prstGeom>
          <a:noFill/>
        </p:spPr>
        <p:txBody>
          <a:bodyPr wrap="square">
            <a:spAutoFit/>
          </a:bodyPr>
          <a:lstStyle/>
          <a:p>
            <a:pPr algn="l">
              <a:spcAft>
                <a:spcPts val="600"/>
              </a:spcAft>
            </a:pPr>
            <a:r>
              <a:rPr sz="1500">
                <a:solidFill>
                  <a:srgbClr val="333333"/>
                </a:solidFill>
              </a:rPr>
              <a:t>• Aggregate across dims weighted by dim score:  Influence(λ_ex, λ_em) = Σ score(d) · mean_ε Δ_d(λ_ex, λ_em)</a:t>
            </a:r>
          </a:p>
          <a:p>
            <a:pPr algn="l">
              <a:spcAft>
                <a:spcPts val="600"/>
              </a:spcAft>
            </a:pPr>
            <a:r>
              <a:rPr sz="1500">
                <a:solidFill>
                  <a:srgbClr val="333333"/>
                </a:solidFill>
              </a:rPr>
              <a:t>• This is a CAUSAL attribution: it measures what the network actually depends on</a:t>
            </a:r>
          </a:p>
          <a:p>
            <a:pPr algn="l">
              <a:spcAft>
                <a:spcPts val="600"/>
              </a:spcAft>
            </a:pPr>
            <a:r>
              <a:rPr sz="1500">
                <a:solidFill>
                  <a:srgbClr val="333333"/>
                </a:solidFill>
              </a:rPr>
              <a:t>• Unlike variance ranking, this can find LOW-variance but discriminative bands</a:t>
            </a:r>
          </a:p>
        </p:txBody>
      </p:sp>
      <p:sp>
        <p:nvSpPr>
          <p:cNvPr id="9" name="TextBox 8"/>
          <p:cNvSpPr txBox="1"/>
          <p:nvPr/>
        </p:nvSpPr>
        <p:spPr>
          <a:xfrm>
            <a:off x="365760" y="6492240"/>
            <a:ext cx="6400800" cy="274320"/>
          </a:xfrm>
          <a:prstGeom prst="rect">
            <a:avLst/>
          </a:prstGeom>
          <a:noFill/>
        </p:spPr>
        <p:txBody>
          <a:bodyPr wrap="square" anchor="t">
            <a:spAutoFit/>
          </a:bodyPr>
          <a:lstStyle/>
          <a:p>
            <a:pPr algn="l"/>
            <a:r>
              <a:rPr sz="900" b="0" i="1">
                <a:solidFill>
                  <a:srgbClr val="888888"/>
                </a:solidFill>
              </a:rPr>
              <a:t>Master's Thesis Defense — Narek Meloyan — 2026</a:t>
            </a:r>
          </a:p>
        </p:txBody>
      </p:sp>
      <p:sp>
        <p:nvSpPr>
          <p:cNvPr id="10" name="TextBox 9"/>
          <p:cNvSpPr txBox="1"/>
          <p:nvPr/>
        </p:nvSpPr>
        <p:spPr>
          <a:xfrm>
            <a:off x="11155680" y="6492240"/>
            <a:ext cx="731520" cy="274320"/>
          </a:xfrm>
          <a:prstGeom prst="rect">
            <a:avLst/>
          </a:prstGeom>
          <a:noFill/>
        </p:spPr>
        <p:txBody>
          <a:bodyPr wrap="square" anchor="t">
            <a:spAutoFit/>
          </a:bodyPr>
          <a:lstStyle/>
          <a:p>
            <a:pPr algn="r"/>
            <a:r>
              <a:rPr sz="900" b="0" i="0">
                <a:solidFill>
                  <a:srgbClr val="888888"/>
                </a:solidFill>
              </a:rPr>
              <a:t>15 / 31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48640"/>
          </a:xfrm>
          <a:prstGeom prst="rect">
            <a:avLst/>
          </a:prstGeom>
          <a:noFill/>
        </p:spPr>
        <p:txBody>
          <a:bodyPr wrap="square" anchor="ctr">
            <a:spAutoFit/>
          </a:bodyPr>
          <a:lstStyle/>
          <a:p>
            <a:pPr algn="l"/>
            <a:r>
              <a:rPr sz="2600" b="1" i="0">
                <a:solidFill>
                  <a:srgbClr val="FFFFFF"/>
                </a:solidFill>
              </a:rPr>
              <a:t>Stage 3: Maximum Marginal Relevance selection</a:t>
            </a:r>
          </a:p>
        </p:txBody>
      </p:sp>
      <p:sp>
        <p:nvSpPr>
          <p:cNvPr id="4" name="TextBox 3"/>
          <p:cNvSpPr txBox="1"/>
          <p:nvPr/>
        </p:nvSpPr>
        <p:spPr>
          <a:xfrm>
            <a:off x="457200" y="1097280"/>
            <a:ext cx="11338560" cy="2194560"/>
          </a:xfrm>
          <a:prstGeom prst="rect">
            <a:avLst/>
          </a:prstGeom>
          <a:noFill/>
        </p:spPr>
        <p:txBody>
          <a:bodyPr wrap="square">
            <a:spAutoFit/>
          </a:bodyPr>
          <a:lstStyle/>
          <a:p>
            <a:pPr algn="l">
              <a:spcAft>
                <a:spcPts val="600"/>
              </a:spcAft>
            </a:pPr>
            <a:r>
              <a:rPr sz="1500">
                <a:solidFill>
                  <a:srgbClr val="333333"/>
                </a:solidFill>
              </a:rPr>
              <a:t>• Pure top-K by influence would cluster — adjacent (λ_ex, λ_em) pairs are spectrally redundant</a:t>
            </a:r>
          </a:p>
          <a:p>
            <a:pPr algn="l">
              <a:spcAft>
                <a:spcPts val="600"/>
              </a:spcAft>
            </a:pPr>
            <a:r>
              <a:rPr sz="1500">
                <a:solidFill>
                  <a:srgbClr val="333333"/>
                </a:solidFill>
              </a:rPr>
              <a:t>• MMR (Carbonell &amp; Goldstein 1998) balances relevance with diversity:</a:t>
            </a:r>
          </a:p>
        </p:txBody>
      </p:sp>
      <p:sp>
        <p:nvSpPr>
          <p:cNvPr id="5" name="Rectangle 4"/>
          <p:cNvSpPr/>
          <p:nvPr/>
        </p:nvSpPr>
        <p:spPr>
          <a:xfrm>
            <a:off x="1371600" y="2743200"/>
            <a:ext cx="9418320" cy="914400"/>
          </a:xfrm>
          <a:prstGeom prst="rect">
            <a:avLst/>
          </a:prstGeom>
          <a:solidFill>
            <a:srgbClr val="E8EEF6"/>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2834640"/>
            <a:ext cx="9418320" cy="731520"/>
          </a:xfrm>
          <a:prstGeom prst="rect">
            <a:avLst/>
          </a:prstGeom>
          <a:noFill/>
        </p:spPr>
        <p:txBody>
          <a:bodyPr wrap="square" anchor="ctr">
            <a:spAutoFit/>
          </a:bodyPr>
          <a:lstStyle/>
          <a:p>
            <a:pPr algn="ctr"/>
            <a:r>
              <a:rPr sz="2000" b="1" i="0">
                <a:solidFill>
                  <a:srgbClr val="1F4E79"/>
                </a:solidFill>
              </a:rPr>
              <a:t>MMR(w) = λ · Rel(w) − (1 − λ) · max_{w' ∈ S} Sim(w, w')</a:t>
            </a:r>
          </a:p>
        </p:txBody>
      </p:sp>
      <p:sp>
        <p:nvSpPr>
          <p:cNvPr id="7" name="TextBox 6"/>
          <p:cNvSpPr txBox="1"/>
          <p:nvPr/>
        </p:nvSpPr>
        <p:spPr>
          <a:xfrm>
            <a:off x="457200" y="3931920"/>
            <a:ext cx="11338560" cy="2286000"/>
          </a:xfrm>
          <a:prstGeom prst="rect">
            <a:avLst/>
          </a:prstGeom>
          <a:noFill/>
        </p:spPr>
        <p:txBody>
          <a:bodyPr wrap="square">
            <a:spAutoFit/>
          </a:bodyPr>
          <a:lstStyle/>
          <a:p>
            <a:pPr algn="l">
              <a:spcAft>
                <a:spcPts val="600"/>
              </a:spcAft>
            </a:pPr>
            <a:r>
              <a:rPr sz="1500">
                <a:solidFill>
                  <a:srgbClr val="333333"/>
                </a:solidFill>
              </a:rPr>
              <a:t>• Rel(w) = normalized influence from Stage 2</a:t>
            </a:r>
          </a:p>
          <a:p>
            <a:pPr algn="l">
              <a:spcAft>
                <a:spcPts val="600"/>
              </a:spcAft>
            </a:pPr>
            <a:r>
              <a:rPr sz="1500">
                <a:solidFill>
                  <a:srgbClr val="333333"/>
                </a:solidFill>
              </a:rPr>
              <a:t>• Sim(w, w') = cosine similarity between spectral profiles at the two bands</a:t>
            </a:r>
          </a:p>
          <a:p>
            <a:pPr algn="l">
              <a:spcAft>
                <a:spcPts val="600"/>
              </a:spcAft>
            </a:pPr>
            <a:r>
              <a:rPr sz="1500">
                <a:solidFill>
                  <a:srgbClr val="333333"/>
                </a:solidFill>
              </a:rPr>
              <a:t>• λ = 0.5 (balanced — pure relevance over-clusters, pure diversity ignores signal)</a:t>
            </a:r>
          </a:p>
          <a:p>
            <a:pPr algn="l">
              <a:spcAft>
                <a:spcPts val="600"/>
              </a:spcAft>
            </a:pPr>
            <a:r>
              <a:rPr sz="1500">
                <a:solidFill>
                  <a:srgbClr val="333333"/>
                </a:solidFill>
              </a:rPr>
              <a:t>• Greedy selection: pick K bands iteratively, each maximizing MMR over the remainder</a:t>
            </a:r>
          </a:p>
        </p:txBody>
      </p:sp>
      <p:sp>
        <p:nvSpPr>
          <p:cNvPr id="8" name="TextBox 7"/>
          <p:cNvSpPr txBox="1"/>
          <p:nvPr/>
        </p:nvSpPr>
        <p:spPr>
          <a:xfrm>
            <a:off x="365760" y="6492240"/>
            <a:ext cx="6400800" cy="274320"/>
          </a:xfrm>
          <a:prstGeom prst="rect">
            <a:avLst/>
          </a:prstGeom>
          <a:noFill/>
        </p:spPr>
        <p:txBody>
          <a:bodyPr wrap="square" anchor="t">
            <a:spAutoFit/>
          </a:bodyPr>
          <a:lstStyle/>
          <a:p>
            <a:pPr algn="l"/>
            <a:r>
              <a:rPr sz="900" b="0" i="1">
                <a:solidFill>
                  <a:srgbClr val="888888"/>
                </a:solidFill>
              </a:rPr>
              <a:t>Master's Thesis Defense — Narek Meloyan — 2026</a:t>
            </a:r>
          </a:p>
        </p:txBody>
      </p:sp>
      <p:sp>
        <p:nvSpPr>
          <p:cNvPr id="9" name="TextBox 8"/>
          <p:cNvSpPr txBox="1"/>
          <p:nvPr/>
        </p:nvSpPr>
        <p:spPr>
          <a:xfrm>
            <a:off x="11155680" y="6492240"/>
            <a:ext cx="731520" cy="274320"/>
          </a:xfrm>
          <a:prstGeom prst="rect">
            <a:avLst/>
          </a:prstGeom>
          <a:noFill/>
        </p:spPr>
        <p:txBody>
          <a:bodyPr wrap="square" anchor="t">
            <a:spAutoFit/>
          </a:bodyPr>
          <a:lstStyle/>
          <a:p>
            <a:pPr algn="r"/>
            <a:r>
              <a:rPr sz="900" b="0" i="0">
                <a:solidFill>
                  <a:srgbClr val="888888"/>
                </a:solidFill>
              </a:rPr>
              <a:t>16 / 31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48640"/>
          </a:xfrm>
          <a:prstGeom prst="rect">
            <a:avLst/>
          </a:prstGeom>
          <a:noFill/>
        </p:spPr>
        <p:txBody>
          <a:bodyPr wrap="square" anchor="ctr">
            <a:spAutoFit/>
          </a:bodyPr>
          <a:lstStyle/>
          <a:p>
            <a:pPr algn="l"/>
            <a:r>
              <a:rPr sz="2600" b="1" i="0">
                <a:solidFill>
                  <a:srgbClr val="FFFFFF"/>
                </a:solidFill>
              </a:rPr>
              <a:t>Dataset 1: Lichens (primary, supervised)</a:t>
            </a:r>
          </a:p>
        </p:txBody>
      </p:sp>
      <p:sp>
        <p:nvSpPr>
          <p:cNvPr id="4" name="TextBox 3"/>
          <p:cNvSpPr txBox="1"/>
          <p:nvPr/>
        </p:nvSpPr>
        <p:spPr>
          <a:xfrm>
            <a:off x="457200" y="1097280"/>
            <a:ext cx="5943600" cy="5212080"/>
          </a:xfrm>
          <a:prstGeom prst="rect">
            <a:avLst/>
          </a:prstGeom>
          <a:noFill/>
        </p:spPr>
        <p:txBody>
          <a:bodyPr wrap="square">
            <a:spAutoFit/>
          </a:bodyPr>
          <a:lstStyle/>
          <a:p>
            <a:pPr algn="l">
              <a:spcAft>
                <a:spcPts val="600"/>
              </a:spcAft>
            </a:pPr>
            <a:r>
              <a:rPr sz="1500">
                <a:solidFill>
                  <a:srgbClr val="333333"/>
                </a:solidFill>
              </a:rPr>
              <a:t>• Lichen specimens — fungus + photosynthetic partner symbiotic organism</a:t>
            </a:r>
          </a:p>
          <a:p>
            <a:pPr algn="l">
              <a:spcAft>
                <a:spcPts val="600"/>
              </a:spcAft>
            </a:pPr>
            <a:r>
              <a:rPr sz="1500">
                <a:solidFill>
                  <a:srgbClr val="333333"/>
                </a:solidFill>
              </a:rPr>
              <a:t>• Autofluorescence reflects both components</a:t>
            </a:r>
          </a:p>
          <a:p>
            <a:pPr algn="l">
              <a:spcAft>
                <a:spcPts val="600"/>
              </a:spcAft>
            </a:pPr>
            <a:r>
              <a:rPr sz="1500">
                <a:solidFill>
                  <a:srgbClr val="333333"/>
                </a:solidFill>
              </a:rPr>
              <a:t>• Acquisition:</a:t>
            </a:r>
          </a:p>
          <a:p>
            <a:pPr algn="l" lvl="1">
              <a:spcAft>
                <a:spcPts val="600"/>
              </a:spcAft>
            </a:pPr>
            <a:r>
              <a:rPr sz="1200">
                <a:solidFill>
                  <a:srgbClr val="333333"/>
                </a:solidFill>
              </a:rPr>
              <a:t>– 8 excitations: 310, 325, 340, 365, 385, 400, 415, 430 nm</a:t>
            </a:r>
          </a:p>
          <a:p>
            <a:pPr algn="l" lvl="1">
              <a:spcAft>
                <a:spcPts val="600"/>
              </a:spcAft>
            </a:pPr>
            <a:r>
              <a:rPr sz="1200">
                <a:solidFill>
                  <a:srgbClr val="333333"/>
                </a:solidFill>
              </a:rPr>
              <a:t>– Emission: 420 – 720 nm @ 10 nm step</a:t>
            </a:r>
          </a:p>
          <a:p>
            <a:pPr algn="l" lvl="1">
              <a:spcAft>
                <a:spcPts val="600"/>
              </a:spcAft>
            </a:pPr>
            <a:r>
              <a:rPr sz="1200">
                <a:solidFill>
                  <a:srgbClr val="333333"/>
                </a:solidFill>
              </a:rPr>
              <a:t>– LED-based source + Nuance FX camera</a:t>
            </a:r>
          </a:p>
          <a:p>
            <a:pPr algn="l">
              <a:spcAft>
                <a:spcPts val="600"/>
              </a:spcAft>
            </a:pPr>
            <a:r>
              <a:rPr sz="1500">
                <a:solidFill>
                  <a:srgbClr val="333333"/>
                </a:solidFill>
              </a:rPr>
              <a:t>• After Rayleigh cutoff: 192 valid (λ_ex, λ_em) pairs</a:t>
            </a:r>
          </a:p>
          <a:p>
            <a:pPr algn="l">
              <a:spcAft>
                <a:spcPts val="600"/>
              </a:spcAft>
            </a:pPr>
            <a:r>
              <a:rPr sz="1500">
                <a:solidFill>
                  <a:srgbClr val="333333"/>
                </a:solidFill>
              </a:rPr>
              <a:t>• Ground truth: 4 morphological classes, ~190k annotated pixels</a:t>
            </a:r>
          </a:p>
          <a:p>
            <a:pPr algn="l">
              <a:spcAft>
                <a:spcPts val="600"/>
              </a:spcAft>
            </a:pPr>
            <a:r>
              <a:rPr sz="1500">
                <a:solidFill>
                  <a:srgbClr val="333333"/>
                </a:solidFill>
              </a:rPr>
              <a:t>• Spatial: 1040 × 925 pixels</a:t>
            </a:r>
          </a:p>
        </p:txBody>
      </p:sp>
      <p:pic>
        <p:nvPicPr>
          <p:cNvPr id="5" name="Picture 4" descr="LichensRGB.jpg"/>
          <p:cNvPicPr>
            <a:picLocks noChangeAspect="1"/>
          </p:cNvPicPr>
          <p:nvPr/>
        </p:nvPicPr>
        <p:blipFill>
          <a:blip r:embed="rId2"/>
          <a:stretch>
            <a:fillRect/>
          </a:stretch>
        </p:blipFill>
        <p:spPr>
          <a:xfrm>
            <a:off x="6675120" y="1188720"/>
            <a:ext cx="5029200" cy="5047966"/>
          </a:xfrm>
          <a:prstGeom prst="rect">
            <a:avLst/>
          </a:prstGeom>
        </p:spPr>
      </p:pic>
      <p:sp>
        <p:nvSpPr>
          <p:cNvPr id="6" name="TextBox 5"/>
          <p:cNvSpPr txBox="1"/>
          <p:nvPr/>
        </p:nvSpPr>
        <p:spPr>
          <a:xfrm>
            <a:off x="6675120" y="5486400"/>
            <a:ext cx="5029200" cy="365760"/>
          </a:xfrm>
          <a:prstGeom prst="rect">
            <a:avLst/>
          </a:prstGeom>
          <a:noFill/>
        </p:spPr>
        <p:txBody>
          <a:bodyPr wrap="square" anchor="t">
            <a:spAutoFit/>
          </a:bodyPr>
          <a:lstStyle/>
          <a:p>
            <a:pPr algn="ctr"/>
            <a:r>
              <a:rPr sz="1100" b="0" i="1">
                <a:solidFill>
                  <a:srgbClr val="888888"/>
                </a:solidFill>
              </a:rPr>
              <a:t>4 lichen species used in this study</a:t>
            </a:r>
          </a:p>
        </p:txBody>
      </p:sp>
      <p:sp>
        <p:nvSpPr>
          <p:cNvPr id="7" name="TextBox 6"/>
          <p:cNvSpPr txBox="1"/>
          <p:nvPr/>
        </p:nvSpPr>
        <p:spPr>
          <a:xfrm>
            <a:off x="365760" y="6492240"/>
            <a:ext cx="6400800" cy="274320"/>
          </a:xfrm>
          <a:prstGeom prst="rect">
            <a:avLst/>
          </a:prstGeom>
          <a:noFill/>
        </p:spPr>
        <p:txBody>
          <a:bodyPr wrap="square" anchor="t">
            <a:spAutoFit/>
          </a:bodyPr>
          <a:lstStyle/>
          <a:p>
            <a:pPr algn="l"/>
            <a:r>
              <a:rPr sz="900" b="0" i="1">
                <a:solidFill>
                  <a:srgbClr val="888888"/>
                </a:solidFill>
              </a:rPr>
              <a:t>Master's Thesis Defense — Narek Meloyan — 2026</a:t>
            </a:r>
          </a:p>
        </p:txBody>
      </p:sp>
      <p:sp>
        <p:nvSpPr>
          <p:cNvPr id="8" name="TextBox 7"/>
          <p:cNvSpPr txBox="1"/>
          <p:nvPr/>
        </p:nvSpPr>
        <p:spPr>
          <a:xfrm>
            <a:off x="11155680" y="6492240"/>
            <a:ext cx="731520" cy="274320"/>
          </a:xfrm>
          <a:prstGeom prst="rect">
            <a:avLst/>
          </a:prstGeom>
          <a:noFill/>
        </p:spPr>
        <p:txBody>
          <a:bodyPr wrap="square" anchor="t">
            <a:spAutoFit/>
          </a:bodyPr>
          <a:lstStyle/>
          <a:p>
            <a:pPr algn="r"/>
            <a:r>
              <a:rPr sz="900" b="0" i="0">
                <a:solidFill>
                  <a:srgbClr val="888888"/>
                </a:solidFill>
              </a:rPr>
              <a:t>17 / 31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48640"/>
          </a:xfrm>
          <a:prstGeom prst="rect">
            <a:avLst/>
          </a:prstGeom>
          <a:noFill/>
        </p:spPr>
        <p:txBody>
          <a:bodyPr wrap="square" anchor="ctr">
            <a:spAutoFit/>
          </a:bodyPr>
          <a:lstStyle/>
          <a:p>
            <a:pPr algn="l"/>
            <a:r>
              <a:rPr sz="2600" b="1" i="0">
                <a:solidFill>
                  <a:srgbClr val="FFFFFF"/>
                </a:solidFill>
              </a:rPr>
              <a:t>Lichens: ground truth and ROI training set</a:t>
            </a:r>
          </a:p>
        </p:txBody>
      </p:sp>
      <p:pic>
        <p:nvPicPr>
          <p:cNvPr id="4" name="Picture 3" descr="LichensLabels and ROI.png"/>
          <p:cNvPicPr>
            <a:picLocks noChangeAspect="1"/>
          </p:cNvPicPr>
          <p:nvPr/>
        </p:nvPicPr>
        <p:blipFill>
          <a:blip r:embed="rId2"/>
          <a:stretch>
            <a:fillRect/>
          </a:stretch>
        </p:blipFill>
        <p:spPr>
          <a:xfrm>
            <a:off x="457200" y="1097280"/>
            <a:ext cx="7772400" cy="7212720"/>
          </a:xfrm>
          <a:prstGeom prst="rect">
            <a:avLst/>
          </a:prstGeom>
        </p:spPr>
      </p:pic>
      <p:sp>
        <p:nvSpPr>
          <p:cNvPr id="5" name="TextBox 4"/>
          <p:cNvSpPr txBox="1"/>
          <p:nvPr/>
        </p:nvSpPr>
        <p:spPr>
          <a:xfrm>
            <a:off x="8503920" y="1188720"/>
            <a:ext cx="3291840" cy="5029200"/>
          </a:xfrm>
          <a:prstGeom prst="rect">
            <a:avLst/>
          </a:prstGeom>
          <a:noFill/>
        </p:spPr>
        <p:txBody>
          <a:bodyPr wrap="square">
            <a:spAutoFit/>
          </a:bodyPr>
          <a:lstStyle/>
          <a:p>
            <a:pPr algn="l">
              <a:spcAft>
                <a:spcPts val="600"/>
              </a:spcAft>
            </a:pPr>
            <a:r>
              <a:rPr sz="1400">
                <a:solidFill>
                  <a:srgbClr val="333333"/>
                </a:solidFill>
              </a:rPr>
              <a:t>• 16 specimens in a 4 × 4 grid</a:t>
            </a:r>
          </a:p>
          <a:p>
            <a:pPr algn="l">
              <a:spcAft>
                <a:spcPts val="600"/>
              </a:spcAft>
            </a:pPr>
            <a:r>
              <a:rPr sz="1400">
                <a:solidFill>
                  <a:srgbClr val="333333"/>
                </a:solidFill>
              </a:rPr>
              <a:t>• Columns = morphological class</a:t>
            </a:r>
          </a:p>
          <a:p>
            <a:pPr algn="l">
              <a:spcAft>
                <a:spcPts val="600"/>
              </a:spcAft>
            </a:pPr>
            <a:r>
              <a:rPr sz="1400">
                <a:solidFill>
                  <a:srgbClr val="333333"/>
                </a:solidFill>
              </a:rPr>
              <a:t>• 4 small ROIs (top row) = training pixels</a:t>
            </a:r>
          </a:p>
          <a:p>
            <a:pPr algn="l">
              <a:spcAft>
                <a:spcPts val="600"/>
              </a:spcAft>
            </a:pPr>
            <a:r>
              <a:rPr sz="1400">
                <a:solidFill>
                  <a:srgbClr val="333333"/>
                </a:solidFill>
              </a:rPr>
              <a:t>• Rest of each specimen = test set</a:t>
            </a:r>
          </a:p>
          <a:p>
            <a:pPr algn="l" lvl="1">
              <a:spcAft>
                <a:spcPts val="600"/>
              </a:spcAft>
            </a:pPr>
            <a:r>
              <a:rPr sz="1100">
                <a:solidFill>
                  <a:srgbClr val="333333"/>
                </a:solidFill>
              </a:rPr>
              <a:t>– 11.5k train</a:t>
            </a:r>
          </a:p>
          <a:p>
            <a:pPr algn="l" lvl="1">
              <a:spcAft>
                <a:spcPts val="600"/>
              </a:spcAft>
            </a:pPr>
            <a:r>
              <a:rPr sz="1100">
                <a:solidFill>
                  <a:srgbClr val="333333"/>
                </a:solidFill>
              </a:rPr>
              <a:t>– ~180k test</a:t>
            </a:r>
          </a:p>
          <a:p>
            <a:pPr algn="l">
              <a:spcAft>
                <a:spcPts val="600"/>
              </a:spcAft>
            </a:pPr>
            <a:r>
              <a:rPr sz="1400">
                <a:solidFill>
                  <a:srgbClr val="333333"/>
                </a:solidFill>
              </a:rPr>
              <a:t>• ROIs used ONLY for the downstream classifier — selection is unsupervised</a:t>
            </a:r>
          </a:p>
        </p:txBody>
      </p:sp>
      <p:sp>
        <p:nvSpPr>
          <p:cNvPr id="6" name="TextBox 5"/>
          <p:cNvSpPr txBox="1"/>
          <p:nvPr/>
        </p:nvSpPr>
        <p:spPr>
          <a:xfrm>
            <a:off x="365760" y="6492240"/>
            <a:ext cx="6400800" cy="274320"/>
          </a:xfrm>
          <a:prstGeom prst="rect">
            <a:avLst/>
          </a:prstGeom>
          <a:noFill/>
        </p:spPr>
        <p:txBody>
          <a:bodyPr wrap="square" anchor="t">
            <a:spAutoFit/>
          </a:bodyPr>
          <a:lstStyle/>
          <a:p>
            <a:pPr algn="l"/>
            <a:r>
              <a:rPr sz="900" b="0" i="1">
                <a:solidFill>
                  <a:srgbClr val="888888"/>
                </a:solidFill>
              </a:rPr>
              <a:t>Master's Thesis Defense — Narek Meloyan — 2026</a:t>
            </a:r>
          </a:p>
        </p:txBody>
      </p:sp>
      <p:sp>
        <p:nvSpPr>
          <p:cNvPr id="7" name="TextBox 6"/>
          <p:cNvSpPr txBox="1"/>
          <p:nvPr/>
        </p:nvSpPr>
        <p:spPr>
          <a:xfrm>
            <a:off x="11155680" y="6492240"/>
            <a:ext cx="731520" cy="274320"/>
          </a:xfrm>
          <a:prstGeom prst="rect">
            <a:avLst/>
          </a:prstGeom>
          <a:noFill/>
        </p:spPr>
        <p:txBody>
          <a:bodyPr wrap="square" anchor="t">
            <a:spAutoFit/>
          </a:bodyPr>
          <a:lstStyle/>
          <a:p>
            <a:pPr algn="r"/>
            <a:r>
              <a:rPr sz="900" b="0" i="0">
                <a:solidFill>
                  <a:srgbClr val="888888"/>
                </a:solidFill>
              </a:rPr>
              <a:t>18 / 31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48640"/>
          </a:xfrm>
          <a:prstGeom prst="rect">
            <a:avLst/>
          </a:prstGeom>
          <a:noFill/>
        </p:spPr>
        <p:txBody>
          <a:bodyPr wrap="square" anchor="ctr">
            <a:spAutoFit/>
          </a:bodyPr>
          <a:lstStyle/>
          <a:p>
            <a:pPr algn="l"/>
            <a:r>
              <a:rPr sz="2600" b="1" i="0">
                <a:solidFill>
                  <a:srgbClr val="FFFFFF"/>
                </a:solidFill>
              </a:rPr>
              <a:t>Dataset 2: Collagen Sponges (secondary, supervised)</a:t>
            </a:r>
          </a:p>
        </p:txBody>
      </p:sp>
      <p:sp>
        <p:nvSpPr>
          <p:cNvPr id="4" name="TextBox 3"/>
          <p:cNvSpPr txBox="1"/>
          <p:nvPr/>
        </p:nvSpPr>
        <p:spPr>
          <a:xfrm>
            <a:off x="457200" y="1097280"/>
            <a:ext cx="5943600" cy="5212080"/>
          </a:xfrm>
          <a:prstGeom prst="rect">
            <a:avLst/>
          </a:prstGeom>
          <a:noFill/>
        </p:spPr>
        <p:txBody>
          <a:bodyPr wrap="square">
            <a:spAutoFit/>
          </a:bodyPr>
          <a:lstStyle/>
          <a:p>
            <a:pPr algn="l">
              <a:spcAft>
                <a:spcPts val="600"/>
              </a:spcAft>
            </a:pPr>
            <a:r>
              <a:rPr sz="1400">
                <a:solidFill>
                  <a:srgbClr val="333333"/>
                </a:solidFill>
              </a:rPr>
              <a:t>• Collagen sponge samples prepared at 3 crosslinker concentrations</a:t>
            </a:r>
          </a:p>
          <a:p>
            <a:pPr algn="l" lvl="1">
              <a:spcAft>
                <a:spcPts val="600"/>
              </a:spcAft>
            </a:pPr>
            <a:r>
              <a:rPr sz="1100">
                <a:solidFill>
                  <a:srgbClr val="333333"/>
                </a:solidFill>
              </a:rPr>
              <a:t>– Crosslinker concentration modulates fibril organization</a:t>
            </a:r>
          </a:p>
          <a:p>
            <a:pPr algn="l" lvl="1">
              <a:spcAft>
                <a:spcPts val="600"/>
              </a:spcAft>
            </a:pPr>
            <a:r>
              <a:rPr sz="1100">
                <a:solidFill>
                  <a:srgbClr val="333333"/>
                </a:solidFill>
              </a:rPr>
              <a:t>– Produces measurable shifts in emission peak &amp; intensity</a:t>
            </a:r>
          </a:p>
          <a:p>
            <a:pPr algn="l">
              <a:spcAft>
                <a:spcPts val="600"/>
              </a:spcAft>
            </a:pPr>
            <a:r>
              <a:rPr sz="1400">
                <a:solidFill>
                  <a:srgbClr val="333333"/>
                </a:solidFill>
              </a:rPr>
              <a:t>• Tests cross-domain transfer (lichen → collagen chemistry)</a:t>
            </a:r>
          </a:p>
          <a:p>
            <a:pPr algn="l">
              <a:spcAft>
                <a:spcPts val="600"/>
              </a:spcAft>
            </a:pPr>
            <a:r>
              <a:rPr sz="1400">
                <a:solidFill>
                  <a:srgbClr val="333333"/>
                </a:solidFill>
              </a:rPr>
              <a:t>• Acquisition:</a:t>
            </a:r>
          </a:p>
          <a:p>
            <a:pPr algn="l" lvl="1">
              <a:spcAft>
                <a:spcPts val="600"/>
              </a:spcAft>
            </a:pPr>
            <a:r>
              <a:rPr sz="1100">
                <a:solidFill>
                  <a:srgbClr val="333333"/>
                </a:solidFill>
              </a:rPr>
              <a:t>– 6 excitations: 310, 325, 340, 365, 385, 400 nm (fewer than Lichens)</a:t>
            </a:r>
          </a:p>
          <a:p>
            <a:pPr algn="l" lvl="1">
              <a:spcAft>
                <a:spcPts val="600"/>
              </a:spcAft>
            </a:pPr>
            <a:r>
              <a:rPr sz="1100">
                <a:solidFill>
                  <a:srgbClr val="333333"/>
                </a:solidFill>
              </a:rPr>
              <a:t>– Same camera + same emission grid</a:t>
            </a:r>
          </a:p>
          <a:p>
            <a:pPr algn="l">
              <a:spcAft>
                <a:spcPts val="600"/>
              </a:spcAft>
            </a:pPr>
            <a:r>
              <a:rPr sz="1400">
                <a:solidFill>
                  <a:srgbClr val="333333"/>
                </a:solidFill>
              </a:rPr>
              <a:t>• After Rayleigh cutoff: 158 valid (λ_ex, λ_em) pairs</a:t>
            </a:r>
          </a:p>
          <a:p>
            <a:pPr algn="l">
              <a:spcAft>
                <a:spcPts val="600"/>
              </a:spcAft>
            </a:pPr>
            <a:r>
              <a:rPr sz="1400">
                <a:solidFill>
                  <a:srgbClr val="333333"/>
                </a:solidFill>
              </a:rPr>
              <a:t>• Ground truth: 3 concentration classes, ~40k annotated pixels</a:t>
            </a:r>
          </a:p>
        </p:txBody>
      </p:sp>
      <p:pic>
        <p:nvPicPr>
          <p:cNvPr id="5" name="Picture 4" descr="CollagenLabels_and_ROI.png"/>
          <p:cNvPicPr>
            <a:picLocks noChangeAspect="1"/>
          </p:cNvPicPr>
          <p:nvPr/>
        </p:nvPicPr>
        <p:blipFill>
          <a:blip r:embed="rId2"/>
          <a:stretch>
            <a:fillRect/>
          </a:stretch>
        </p:blipFill>
        <p:spPr>
          <a:xfrm>
            <a:off x="6675120" y="1188720"/>
            <a:ext cx="5029200" cy="4051940"/>
          </a:xfrm>
          <a:prstGeom prst="rect">
            <a:avLst/>
          </a:prstGeom>
        </p:spPr>
      </p:pic>
      <p:sp>
        <p:nvSpPr>
          <p:cNvPr id="6" name="TextBox 5"/>
          <p:cNvSpPr txBox="1"/>
          <p:nvPr/>
        </p:nvSpPr>
        <p:spPr>
          <a:xfrm>
            <a:off x="6675120" y="5486400"/>
            <a:ext cx="5029200" cy="365760"/>
          </a:xfrm>
          <a:prstGeom prst="rect">
            <a:avLst/>
          </a:prstGeom>
          <a:noFill/>
        </p:spPr>
        <p:txBody>
          <a:bodyPr wrap="square" anchor="t">
            <a:spAutoFit/>
          </a:bodyPr>
          <a:lstStyle/>
          <a:p>
            <a:pPr algn="ctr"/>
            <a:r>
              <a:rPr sz="1100" b="0" i="1">
                <a:solidFill>
                  <a:srgbClr val="888888"/>
                </a:solidFill>
              </a:rPr>
              <a:t>3 × 3 grid: 3 crosslinker classes × 3 replicates</a:t>
            </a:r>
          </a:p>
        </p:txBody>
      </p:sp>
      <p:sp>
        <p:nvSpPr>
          <p:cNvPr id="7" name="TextBox 6"/>
          <p:cNvSpPr txBox="1"/>
          <p:nvPr/>
        </p:nvSpPr>
        <p:spPr>
          <a:xfrm>
            <a:off x="365760" y="6492240"/>
            <a:ext cx="6400800" cy="274320"/>
          </a:xfrm>
          <a:prstGeom prst="rect">
            <a:avLst/>
          </a:prstGeom>
          <a:noFill/>
        </p:spPr>
        <p:txBody>
          <a:bodyPr wrap="square" anchor="t">
            <a:spAutoFit/>
          </a:bodyPr>
          <a:lstStyle/>
          <a:p>
            <a:pPr algn="l"/>
            <a:r>
              <a:rPr sz="900" b="0" i="1">
                <a:solidFill>
                  <a:srgbClr val="888888"/>
                </a:solidFill>
              </a:rPr>
              <a:t>Master's Thesis Defense — Narek Meloyan — 2026</a:t>
            </a:r>
          </a:p>
        </p:txBody>
      </p:sp>
      <p:sp>
        <p:nvSpPr>
          <p:cNvPr id="8" name="TextBox 7"/>
          <p:cNvSpPr txBox="1"/>
          <p:nvPr/>
        </p:nvSpPr>
        <p:spPr>
          <a:xfrm>
            <a:off x="11155680" y="6492240"/>
            <a:ext cx="731520" cy="274320"/>
          </a:xfrm>
          <a:prstGeom prst="rect">
            <a:avLst/>
          </a:prstGeom>
          <a:noFill/>
        </p:spPr>
        <p:txBody>
          <a:bodyPr wrap="square" anchor="t">
            <a:spAutoFit/>
          </a:bodyPr>
          <a:lstStyle/>
          <a:p>
            <a:pPr algn="r"/>
            <a:r>
              <a:rPr sz="900" b="0" i="0">
                <a:solidFill>
                  <a:srgbClr val="888888"/>
                </a:solidFill>
              </a:rPr>
              <a:t>19 / 31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48640"/>
          </a:xfrm>
          <a:prstGeom prst="rect">
            <a:avLst/>
          </a:prstGeom>
          <a:noFill/>
        </p:spPr>
        <p:txBody>
          <a:bodyPr wrap="square" anchor="ctr">
            <a:spAutoFit/>
          </a:bodyPr>
          <a:lstStyle/>
          <a:p>
            <a:pPr algn="l"/>
            <a:r>
              <a:rPr sz="2600" b="1" i="0">
                <a:solidFill>
                  <a:srgbClr val="FFFFFF"/>
                </a:solidFill>
              </a:rPr>
              <a:t>Lichens: accuracy vs. number of selected bands</a:t>
            </a:r>
          </a:p>
        </p:txBody>
      </p:sp>
      <p:pic>
        <p:nvPicPr>
          <p:cNvPr id="4" name="Picture 3" descr="accuracy_envelope.png"/>
          <p:cNvPicPr>
            <a:picLocks noChangeAspect="1"/>
          </p:cNvPicPr>
          <p:nvPr/>
        </p:nvPicPr>
        <p:blipFill>
          <a:blip r:embed="rId2"/>
          <a:stretch>
            <a:fillRect/>
          </a:stretch>
        </p:blipFill>
        <p:spPr>
          <a:xfrm>
            <a:off x="548640" y="1097280"/>
            <a:ext cx="7315200" cy="4546204"/>
          </a:xfrm>
          <a:prstGeom prst="rect">
            <a:avLst/>
          </a:prstGeom>
        </p:spPr>
      </p:pic>
      <p:sp>
        <p:nvSpPr>
          <p:cNvPr id="5" name="TextBox 4"/>
          <p:cNvSpPr txBox="1"/>
          <p:nvPr/>
        </p:nvSpPr>
        <p:spPr>
          <a:xfrm>
            <a:off x="8138160" y="1188720"/>
            <a:ext cx="3840480" cy="5029200"/>
          </a:xfrm>
          <a:prstGeom prst="rect">
            <a:avLst/>
          </a:prstGeom>
          <a:noFill/>
        </p:spPr>
        <p:txBody>
          <a:bodyPr wrap="square">
            <a:spAutoFit/>
          </a:bodyPr>
          <a:lstStyle/>
          <a:p>
            <a:pPr algn="l">
              <a:spcAft>
                <a:spcPts val="600"/>
              </a:spcAft>
            </a:pPr>
            <a:r>
              <a:rPr sz="1300">
                <a:solidFill>
                  <a:srgbClr val="333333"/>
                </a:solidFill>
              </a:rPr>
              <a:t>• Headline results:</a:t>
            </a:r>
          </a:p>
          <a:p>
            <a:pPr algn="l" lvl="1">
              <a:spcAft>
                <a:spcPts val="600"/>
              </a:spcAft>
            </a:pPr>
            <a:r>
              <a:rPr sz="1000">
                <a:solidFill>
                  <a:srgbClr val="333333"/>
                </a:solidFill>
              </a:rPr>
              <a:t>– 192 bands (baseline): 88.2%</a:t>
            </a:r>
          </a:p>
          <a:p>
            <a:pPr algn="l" lvl="1">
              <a:spcAft>
                <a:spcPts val="600"/>
              </a:spcAft>
            </a:pPr>
            <a:r>
              <a:rPr sz="1000">
                <a:solidFill>
                  <a:srgbClr val="333333"/>
                </a:solidFill>
              </a:rPr>
              <a:t>– 80 bands: 95.2% (+7.0 pp, 58% reduction)</a:t>
            </a:r>
          </a:p>
          <a:p>
            <a:pPr algn="l" lvl="1">
              <a:spcAft>
                <a:spcPts val="600"/>
              </a:spcAft>
            </a:pPr>
            <a:r>
              <a:rPr sz="1000">
                <a:solidFill>
                  <a:srgbClr val="333333"/>
                </a:solidFill>
              </a:rPr>
              <a:t>– 13 bands: 90.2% (+2.0 pp)</a:t>
            </a:r>
          </a:p>
          <a:p>
            <a:pPr algn="l" lvl="1">
              <a:spcAft>
                <a:spcPts val="600"/>
              </a:spcAft>
            </a:pPr>
            <a:r>
              <a:rPr sz="1000">
                <a:solidFill>
                  <a:srgbClr val="333333"/>
                </a:solidFill>
              </a:rPr>
              <a:t>– 9 bands: 89.4% (+1.2 pp, 95% reduction)</a:t>
            </a:r>
          </a:p>
          <a:p>
            <a:pPr algn="l">
              <a:spcAft>
                <a:spcPts val="600"/>
              </a:spcAft>
            </a:pPr>
            <a:r>
              <a:rPr sz="1300">
                <a:solidFill>
                  <a:srgbClr val="333333"/>
                </a:solidFill>
              </a:rPr>
              <a:t>• Above-baseline accuracy from K = 9 up to K ≈ 100</a:t>
            </a:r>
          </a:p>
          <a:p>
            <a:pPr algn="l">
              <a:spcAft>
                <a:spcPts val="600"/>
              </a:spcAft>
            </a:pPr>
            <a:r>
              <a:rPr sz="1300">
                <a:solidFill>
                  <a:srgbClr val="333333"/>
                </a:solidFill>
              </a:rPr>
              <a:t>• Curve PEAKS at intermediate K — too many bands actively hurts</a:t>
            </a:r>
          </a:p>
        </p:txBody>
      </p:sp>
      <p:sp>
        <p:nvSpPr>
          <p:cNvPr id="6" name="TextBox 5"/>
          <p:cNvSpPr txBox="1"/>
          <p:nvPr/>
        </p:nvSpPr>
        <p:spPr>
          <a:xfrm>
            <a:off x="365760" y="6492240"/>
            <a:ext cx="6400800" cy="274320"/>
          </a:xfrm>
          <a:prstGeom prst="rect">
            <a:avLst/>
          </a:prstGeom>
          <a:noFill/>
        </p:spPr>
        <p:txBody>
          <a:bodyPr wrap="square" anchor="t">
            <a:spAutoFit/>
          </a:bodyPr>
          <a:lstStyle/>
          <a:p>
            <a:pPr algn="l"/>
            <a:r>
              <a:rPr sz="900" b="0" i="1">
                <a:solidFill>
                  <a:srgbClr val="888888"/>
                </a:solidFill>
              </a:rPr>
              <a:t>Master's Thesis Defense — Narek Meloyan — 2026</a:t>
            </a:r>
          </a:p>
        </p:txBody>
      </p:sp>
      <p:sp>
        <p:nvSpPr>
          <p:cNvPr id="7" name="TextBox 6"/>
          <p:cNvSpPr txBox="1"/>
          <p:nvPr/>
        </p:nvSpPr>
        <p:spPr>
          <a:xfrm>
            <a:off x="11155680" y="6492240"/>
            <a:ext cx="731520" cy="274320"/>
          </a:xfrm>
          <a:prstGeom prst="rect">
            <a:avLst/>
          </a:prstGeom>
          <a:noFill/>
        </p:spPr>
        <p:txBody>
          <a:bodyPr wrap="square" anchor="t">
            <a:spAutoFit/>
          </a:bodyPr>
          <a:lstStyle/>
          <a:p>
            <a:pPr algn="r"/>
            <a:r>
              <a:rPr sz="900" b="0" i="0">
                <a:solidFill>
                  <a:srgbClr val="888888"/>
                </a:solidFill>
              </a:rPr>
              <a:t>20 / 31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48640"/>
          </a:xfrm>
          <a:prstGeom prst="rect">
            <a:avLst/>
          </a:prstGeom>
          <a:noFill/>
        </p:spPr>
        <p:txBody>
          <a:bodyPr wrap="square" anchor="ctr">
            <a:spAutoFit/>
          </a:bodyPr>
          <a:lstStyle/>
          <a:p>
            <a:pPr algn="l"/>
            <a:r>
              <a:rPr sz="2600" b="1" i="0">
                <a:solidFill>
                  <a:srgbClr val="FFFFFF"/>
                </a:solidFill>
              </a:rPr>
              <a:t>Lichens: spatial classification maps</a:t>
            </a:r>
          </a:p>
        </p:txBody>
      </p:sp>
      <p:pic>
        <p:nvPicPr>
          <p:cNvPr id="4" name="Picture 3" descr="Baseline.png"/>
          <p:cNvPicPr>
            <a:picLocks noChangeAspect="1"/>
          </p:cNvPicPr>
          <p:nvPr/>
        </p:nvPicPr>
        <p:blipFill>
          <a:blip r:embed="rId2"/>
          <a:stretch>
            <a:fillRect/>
          </a:stretch>
        </p:blipFill>
        <p:spPr>
          <a:xfrm>
            <a:off x="274320" y="1280160"/>
            <a:ext cx="3657600" cy="3034513"/>
          </a:xfrm>
          <a:prstGeom prst="rect">
            <a:avLst/>
          </a:prstGeom>
        </p:spPr>
      </p:pic>
      <p:sp>
        <p:nvSpPr>
          <p:cNvPr id="5" name="TextBox 4"/>
          <p:cNvSpPr txBox="1"/>
          <p:nvPr/>
        </p:nvSpPr>
        <p:spPr>
          <a:xfrm>
            <a:off x="274320" y="5212080"/>
            <a:ext cx="3657600" cy="731520"/>
          </a:xfrm>
          <a:prstGeom prst="rect">
            <a:avLst/>
          </a:prstGeom>
          <a:noFill/>
        </p:spPr>
        <p:txBody>
          <a:bodyPr wrap="square" anchor="t">
            <a:spAutoFit/>
          </a:bodyPr>
          <a:lstStyle/>
          <a:p>
            <a:pPr algn="ctr"/>
            <a:r>
              <a:rPr sz="1400" b="1" i="0">
                <a:solidFill>
                  <a:srgbClr val="1F4E79"/>
                </a:solidFill>
              </a:rPr>
              <a:t>Baseline (all 192 bands)
88.2% accuracy</a:t>
            </a:r>
          </a:p>
        </p:txBody>
      </p:sp>
      <p:pic>
        <p:nvPicPr>
          <p:cNvPr id="6" name="Picture 5" descr="80bands-best.png"/>
          <p:cNvPicPr>
            <a:picLocks noChangeAspect="1"/>
          </p:cNvPicPr>
          <p:nvPr/>
        </p:nvPicPr>
        <p:blipFill>
          <a:blip r:embed="rId3"/>
          <a:stretch>
            <a:fillRect/>
          </a:stretch>
        </p:blipFill>
        <p:spPr>
          <a:xfrm>
            <a:off x="4114800" y="1280160"/>
            <a:ext cx="3657600" cy="3051390"/>
          </a:xfrm>
          <a:prstGeom prst="rect">
            <a:avLst/>
          </a:prstGeom>
        </p:spPr>
      </p:pic>
      <p:sp>
        <p:nvSpPr>
          <p:cNvPr id="7" name="TextBox 6"/>
          <p:cNvSpPr txBox="1"/>
          <p:nvPr/>
        </p:nvSpPr>
        <p:spPr>
          <a:xfrm>
            <a:off x="4114800" y="5212080"/>
            <a:ext cx="3657600" cy="731520"/>
          </a:xfrm>
          <a:prstGeom prst="rect">
            <a:avLst/>
          </a:prstGeom>
          <a:noFill/>
        </p:spPr>
        <p:txBody>
          <a:bodyPr wrap="square" anchor="t">
            <a:spAutoFit/>
          </a:bodyPr>
          <a:lstStyle/>
          <a:p>
            <a:pPr algn="ctr"/>
            <a:r>
              <a:rPr sz="1400" b="1" i="0">
                <a:solidFill>
                  <a:srgbClr val="1F4E79"/>
                </a:solidFill>
              </a:rPr>
              <a:t>K=80 (58% reduction)
95.2% accuracy</a:t>
            </a:r>
          </a:p>
        </p:txBody>
      </p:sp>
      <p:pic>
        <p:nvPicPr>
          <p:cNvPr id="8" name="Picture 7" descr="9bands-efficient.png"/>
          <p:cNvPicPr>
            <a:picLocks noChangeAspect="1"/>
          </p:cNvPicPr>
          <p:nvPr/>
        </p:nvPicPr>
        <p:blipFill>
          <a:blip r:embed="rId4"/>
          <a:stretch>
            <a:fillRect/>
          </a:stretch>
        </p:blipFill>
        <p:spPr>
          <a:xfrm>
            <a:off x="7955279" y="1280160"/>
            <a:ext cx="3657600" cy="3051390"/>
          </a:xfrm>
          <a:prstGeom prst="rect">
            <a:avLst/>
          </a:prstGeom>
        </p:spPr>
      </p:pic>
      <p:sp>
        <p:nvSpPr>
          <p:cNvPr id="9" name="TextBox 8"/>
          <p:cNvSpPr txBox="1"/>
          <p:nvPr/>
        </p:nvSpPr>
        <p:spPr>
          <a:xfrm>
            <a:off x="7955279" y="5212080"/>
            <a:ext cx="3657600" cy="731520"/>
          </a:xfrm>
          <a:prstGeom prst="rect">
            <a:avLst/>
          </a:prstGeom>
          <a:noFill/>
        </p:spPr>
        <p:txBody>
          <a:bodyPr wrap="square" anchor="t">
            <a:spAutoFit/>
          </a:bodyPr>
          <a:lstStyle/>
          <a:p>
            <a:pPr algn="ctr"/>
            <a:r>
              <a:rPr sz="1400" b="1" i="0">
                <a:solidFill>
                  <a:srgbClr val="1F4E79"/>
                </a:solidFill>
              </a:rPr>
              <a:t>K=9 (95% reduction)
89.4% accuracy</a:t>
            </a:r>
          </a:p>
        </p:txBody>
      </p:sp>
      <p:sp>
        <p:nvSpPr>
          <p:cNvPr id="10" name="TextBox 9"/>
          <p:cNvSpPr txBox="1"/>
          <p:nvPr/>
        </p:nvSpPr>
        <p:spPr>
          <a:xfrm>
            <a:off x="457200" y="6126480"/>
            <a:ext cx="11338560" cy="365760"/>
          </a:xfrm>
          <a:prstGeom prst="rect">
            <a:avLst/>
          </a:prstGeom>
          <a:noFill/>
        </p:spPr>
        <p:txBody>
          <a:bodyPr wrap="square" anchor="t">
            <a:spAutoFit/>
          </a:bodyPr>
          <a:lstStyle/>
          <a:p>
            <a:pPr algn="ctr"/>
            <a:r>
              <a:rPr sz="1400" b="0" i="1">
                <a:solidFill>
                  <a:srgbClr val="333333"/>
                </a:solidFill>
              </a:rPr>
              <a:t>Spatial homogeneity improves with selection; specimen boundaries sharpen at K=80</a:t>
            </a:r>
          </a:p>
        </p:txBody>
      </p:sp>
      <p:sp>
        <p:nvSpPr>
          <p:cNvPr id="11" name="TextBox 10"/>
          <p:cNvSpPr txBox="1"/>
          <p:nvPr/>
        </p:nvSpPr>
        <p:spPr>
          <a:xfrm>
            <a:off x="365760" y="6492240"/>
            <a:ext cx="6400800" cy="274320"/>
          </a:xfrm>
          <a:prstGeom prst="rect">
            <a:avLst/>
          </a:prstGeom>
          <a:noFill/>
        </p:spPr>
        <p:txBody>
          <a:bodyPr wrap="square" anchor="t">
            <a:spAutoFit/>
          </a:bodyPr>
          <a:lstStyle/>
          <a:p>
            <a:pPr algn="l"/>
            <a:r>
              <a:rPr sz="900" b="0" i="1">
                <a:solidFill>
                  <a:srgbClr val="888888"/>
                </a:solidFill>
              </a:rPr>
              <a:t>Master's Thesis Defense — Narek Meloyan — 2026</a:t>
            </a:r>
          </a:p>
        </p:txBody>
      </p:sp>
      <p:sp>
        <p:nvSpPr>
          <p:cNvPr id="12" name="TextBox 11"/>
          <p:cNvSpPr txBox="1"/>
          <p:nvPr/>
        </p:nvSpPr>
        <p:spPr>
          <a:xfrm>
            <a:off x="11155680" y="6492240"/>
            <a:ext cx="731520" cy="274320"/>
          </a:xfrm>
          <a:prstGeom prst="rect">
            <a:avLst/>
          </a:prstGeom>
          <a:noFill/>
        </p:spPr>
        <p:txBody>
          <a:bodyPr wrap="square" anchor="t">
            <a:spAutoFit/>
          </a:bodyPr>
          <a:lstStyle/>
          <a:p>
            <a:pPr algn="r"/>
            <a:r>
              <a:rPr sz="900" b="0" i="0">
                <a:solidFill>
                  <a:srgbClr val="888888"/>
                </a:solidFill>
              </a:rPr>
              <a:t>21 / 31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48640"/>
          </a:xfrm>
          <a:prstGeom prst="rect">
            <a:avLst/>
          </a:prstGeom>
          <a:noFill/>
        </p:spPr>
        <p:txBody>
          <a:bodyPr wrap="square" anchor="ctr">
            <a:spAutoFit/>
          </a:bodyPr>
          <a:lstStyle/>
          <a:p>
            <a:pPr algn="l"/>
            <a:r>
              <a:rPr sz="2600" b="1" i="0">
                <a:solidFill>
                  <a:srgbClr val="FFFFFF"/>
                </a:solidFill>
              </a:rPr>
              <a:t>Lichens: validation against 10,000 random selections</a:t>
            </a:r>
          </a:p>
        </p:txBody>
      </p:sp>
      <p:pic>
        <p:nvPicPr>
          <p:cNvPr id="4" name="Picture 3" descr="robustness_histogram.png"/>
          <p:cNvPicPr>
            <a:picLocks noChangeAspect="1"/>
          </p:cNvPicPr>
          <p:nvPr/>
        </p:nvPicPr>
        <p:blipFill>
          <a:blip r:embed="rId2"/>
          <a:stretch>
            <a:fillRect/>
          </a:stretch>
        </p:blipFill>
        <p:spPr>
          <a:xfrm>
            <a:off x="548640" y="1097280"/>
            <a:ext cx="7315200" cy="4651283"/>
          </a:xfrm>
          <a:prstGeom prst="rect">
            <a:avLst/>
          </a:prstGeom>
        </p:spPr>
      </p:pic>
      <p:sp>
        <p:nvSpPr>
          <p:cNvPr id="5" name="TextBox 4"/>
          <p:cNvSpPr txBox="1"/>
          <p:nvPr/>
        </p:nvSpPr>
        <p:spPr>
          <a:xfrm>
            <a:off x="8138160" y="1188720"/>
            <a:ext cx="3840480" cy="5029200"/>
          </a:xfrm>
          <a:prstGeom prst="rect">
            <a:avLst/>
          </a:prstGeom>
          <a:noFill/>
        </p:spPr>
        <p:txBody>
          <a:bodyPr wrap="square">
            <a:spAutoFit/>
          </a:bodyPr>
          <a:lstStyle/>
          <a:p>
            <a:pPr algn="l">
              <a:spcAft>
                <a:spcPts val="600"/>
              </a:spcAft>
            </a:pPr>
            <a:r>
              <a:rPr sz="1300">
                <a:solidFill>
                  <a:srgbClr val="333333"/>
                </a:solidFill>
              </a:rPr>
              <a:t>• Compared the 13-band selection vs. 10,000 random 13-band combinations</a:t>
            </a:r>
          </a:p>
          <a:p>
            <a:pPr algn="l">
              <a:spcAft>
                <a:spcPts val="600"/>
              </a:spcAft>
            </a:pPr>
            <a:r>
              <a:rPr sz="1300">
                <a:solidFill>
                  <a:srgbClr val="333333"/>
                </a:solidFill>
              </a:rPr>
              <a:t>• Random mean: 46.1% (median 44.9%)</a:t>
            </a:r>
          </a:p>
          <a:p>
            <a:pPr algn="l">
              <a:spcAft>
                <a:spcPts val="600"/>
              </a:spcAft>
            </a:pPr>
            <a:r>
              <a:rPr sz="1300">
                <a:solidFill>
                  <a:srgbClr val="333333"/>
                </a:solidFill>
              </a:rPr>
              <a:t>• Random max: 57.9%</a:t>
            </a:r>
          </a:p>
          <a:p>
            <a:pPr algn="l">
              <a:spcAft>
                <a:spcPts val="600"/>
              </a:spcAft>
            </a:pPr>
            <a:r>
              <a:rPr sz="1300">
                <a:solidFill>
                  <a:srgbClr val="333333"/>
                </a:solidFill>
              </a:rPr>
              <a:t>• Learned selection: 90.2%</a:t>
            </a:r>
          </a:p>
          <a:p>
            <a:pPr algn="l">
              <a:spcAft>
                <a:spcPts val="600"/>
              </a:spcAft>
            </a:pPr>
            <a:r>
              <a:rPr sz="1300">
                <a:solidFill>
                  <a:srgbClr val="333333"/>
                </a:solidFill>
              </a:rPr>
              <a:t>• 12σ separation from random mean</a:t>
            </a:r>
          </a:p>
          <a:p>
            <a:pPr algn="l">
              <a:spcAft>
                <a:spcPts val="600"/>
              </a:spcAft>
            </a:pPr>
            <a:r>
              <a:rPr sz="1300">
                <a:solidFill>
                  <a:srgbClr val="333333"/>
                </a:solidFill>
              </a:rPr>
              <a:t>• p ≪ 10⁻²⁰ — NOT chance</a:t>
            </a:r>
          </a:p>
          <a:p>
            <a:pPr algn="l">
              <a:spcAft>
                <a:spcPts val="600"/>
              </a:spcAft>
            </a:pPr>
            <a:r>
              <a:rPr sz="1300">
                <a:solidFill>
                  <a:srgbClr val="333333"/>
                </a:solidFill>
              </a:rPr>
              <a:t>• Selection IS load-bearing — not a lucky subset</a:t>
            </a:r>
          </a:p>
        </p:txBody>
      </p:sp>
      <p:sp>
        <p:nvSpPr>
          <p:cNvPr id="6" name="TextBox 5"/>
          <p:cNvSpPr txBox="1"/>
          <p:nvPr/>
        </p:nvSpPr>
        <p:spPr>
          <a:xfrm>
            <a:off x="365760" y="6492240"/>
            <a:ext cx="6400800" cy="274320"/>
          </a:xfrm>
          <a:prstGeom prst="rect">
            <a:avLst/>
          </a:prstGeom>
          <a:noFill/>
        </p:spPr>
        <p:txBody>
          <a:bodyPr wrap="square" anchor="t">
            <a:spAutoFit/>
          </a:bodyPr>
          <a:lstStyle/>
          <a:p>
            <a:pPr algn="l"/>
            <a:r>
              <a:rPr sz="900" b="0" i="1">
                <a:solidFill>
                  <a:srgbClr val="888888"/>
                </a:solidFill>
              </a:rPr>
              <a:t>Master's Thesis Defense — Narek Meloyan — 2026</a:t>
            </a:r>
          </a:p>
        </p:txBody>
      </p:sp>
      <p:sp>
        <p:nvSpPr>
          <p:cNvPr id="7" name="TextBox 6"/>
          <p:cNvSpPr txBox="1"/>
          <p:nvPr/>
        </p:nvSpPr>
        <p:spPr>
          <a:xfrm>
            <a:off x="11155680" y="6492240"/>
            <a:ext cx="731520" cy="274320"/>
          </a:xfrm>
          <a:prstGeom prst="rect">
            <a:avLst/>
          </a:prstGeom>
          <a:noFill/>
        </p:spPr>
        <p:txBody>
          <a:bodyPr wrap="square" anchor="t">
            <a:spAutoFit/>
          </a:bodyPr>
          <a:lstStyle/>
          <a:p>
            <a:pPr algn="r"/>
            <a:r>
              <a:rPr sz="900" b="0" i="0">
                <a:solidFill>
                  <a:srgbClr val="888888"/>
                </a:solidFill>
              </a:rPr>
              <a:t>22 / 31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48640"/>
          </a:xfrm>
          <a:prstGeom prst="rect">
            <a:avLst/>
          </a:prstGeom>
          <a:noFill/>
        </p:spPr>
        <p:txBody>
          <a:bodyPr wrap="square" anchor="ctr">
            <a:spAutoFit/>
          </a:bodyPr>
          <a:lstStyle/>
          <a:p>
            <a:pPr algn="l"/>
            <a:r>
              <a:rPr sz="2600" b="1" i="0">
                <a:solidFill>
                  <a:srgbClr val="FFFFFF"/>
                </a:solidFill>
              </a:rPr>
              <a:t>Lichens: which wavelengths matter?</a:t>
            </a:r>
          </a:p>
        </p:txBody>
      </p:sp>
      <p:pic>
        <p:nvPicPr>
          <p:cNvPr id="4" name="Picture 3" descr="wavelength_heatmap.png"/>
          <p:cNvPicPr>
            <a:picLocks noChangeAspect="1"/>
          </p:cNvPicPr>
          <p:nvPr/>
        </p:nvPicPr>
        <p:blipFill>
          <a:blip r:embed="rId2"/>
          <a:stretch>
            <a:fillRect/>
          </a:stretch>
        </p:blipFill>
        <p:spPr>
          <a:xfrm>
            <a:off x="365760" y="1097280"/>
            <a:ext cx="7772400" cy="3388639"/>
          </a:xfrm>
          <a:prstGeom prst="rect">
            <a:avLst/>
          </a:prstGeom>
        </p:spPr>
      </p:pic>
      <p:sp>
        <p:nvSpPr>
          <p:cNvPr id="5" name="TextBox 4"/>
          <p:cNvSpPr txBox="1"/>
          <p:nvPr/>
        </p:nvSpPr>
        <p:spPr>
          <a:xfrm>
            <a:off x="8412480" y="1188720"/>
            <a:ext cx="3566160" cy="5029200"/>
          </a:xfrm>
          <a:prstGeom prst="rect">
            <a:avLst/>
          </a:prstGeom>
          <a:noFill/>
        </p:spPr>
        <p:txBody>
          <a:bodyPr wrap="square">
            <a:spAutoFit/>
          </a:bodyPr>
          <a:lstStyle/>
          <a:p>
            <a:pPr algn="l">
              <a:spcAft>
                <a:spcPts val="600"/>
              </a:spcAft>
            </a:pPr>
            <a:r>
              <a:rPr sz="1300">
                <a:solidFill>
                  <a:srgbClr val="333333"/>
                </a:solidFill>
              </a:rPr>
              <a:t>• Mean importance across all above-baseline configs</a:t>
            </a:r>
          </a:p>
          <a:p>
            <a:pPr algn="l">
              <a:spcAft>
                <a:spcPts val="600"/>
              </a:spcAft>
            </a:pPr>
            <a:r>
              <a:rPr sz="1300">
                <a:solidFill>
                  <a:srgbClr val="333333"/>
                </a:solidFill>
              </a:rPr>
              <a:t>• Hot region: 480 – 620 nm emission, 325 – 400 nm excitation</a:t>
            </a:r>
          </a:p>
          <a:p>
            <a:pPr algn="l">
              <a:spcAft>
                <a:spcPts val="600"/>
              </a:spcAft>
            </a:pPr>
            <a:r>
              <a:rPr sz="1300">
                <a:solidFill>
                  <a:srgbClr val="333333"/>
                </a:solidFill>
              </a:rPr>
              <a:t>• Matches chlorophyll &amp; lichen autofluorescence physics</a:t>
            </a:r>
          </a:p>
          <a:p>
            <a:pPr algn="l">
              <a:spcAft>
                <a:spcPts val="600"/>
              </a:spcAft>
            </a:pPr>
            <a:r>
              <a:rPr sz="1300">
                <a:solidFill>
                  <a:srgbClr val="333333"/>
                </a:solidFill>
              </a:rPr>
              <a:t>• 9-band optimal config selects ONE band per excitation — directly actionable for sensor design</a:t>
            </a:r>
          </a:p>
        </p:txBody>
      </p:sp>
      <p:sp>
        <p:nvSpPr>
          <p:cNvPr id="6" name="TextBox 5"/>
          <p:cNvSpPr txBox="1"/>
          <p:nvPr/>
        </p:nvSpPr>
        <p:spPr>
          <a:xfrm>
            <a:off x="365760" y="6492240"/>
            <a:ext cx="6400800" cy="274320"/>
          </a:xfrm>
          <a:prstGeom prst="rect">
            <a:avLst/>
          </a:prstGeom>
          <a:noFill/>
        </p:spPr>
        <p:txBody>
          <a:bodyPr wrap="square" anchor="t">
            <a:spAutoFit/>
          </a:bodyPr>
          <a:lstStyle/>
          <a:p>
            <a:pPr algn="l"/>
            <a:r>
              <a:rPr sz="900" b="0" i="1">
                <a:solidFill>
                  <a:srgbClr val="888888"/>
                </a:solidFill>
              </a:rPr>
              <a:t>Master's Thesis Defense — Narek Meloyan — 2026</a:t>
            </a:r>
          </a:p>
        </p:txBody>
      </p:sp>
      <p:sp>
        <p:nvSpPr>
          <p:cNvPr id="7" name="TextBox 6"/>
          <p:cNvSpPr txBox="1"/>
          <p:nvPr/>
        </p:nvSpPr>
        <p:spPr>
          <a:xfrm>
            <a:off x="11155680" y="6492240"/>
            <a:ext cx="731520" cy="274320"/>
          </a:xfrm>
          <a:prstGeom prst="rect">
            <a:avLst/>
          </a:prstGeom>
          <a:noFill/>
        </p:spPr>
        <p:txBody>
          <a:bodyPr wrap="square" anchor="t">
            <a:spAutoFit/>
          </a:bodyPr>
          <a:lstStyle/>
          <a:p>
            <a:pPr algn="r"/>
            <a:r>
              <a:rPr sz="900" b="0" i="0">
                <a:solidFill>
                  <a:srgbClr val="888888"/>
                </a:solidFill>
              </a:rPr>
              <a:t>23 / 31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48640"/>
          </a:xfrm>
          <a:prstGeom prst="rect">
            <a:avLst/>
          </a:prstGeom>
          <a:noFill/>
        </p:spPr>
        <p:txBody>
          <a:bodyPr wrap="square" anchor="ctr">
            <a:spAutoFit/>
          </a:bodyPr>
          <a:lstStyle/>
          <a:p>
            <a:pPr algn="l"/>
            <a:r>
              <a:rPr sz="2600" b="1" i="0">
                <a:solidFill>
                  <a:srgbClr val="FFFFFF"/>
                </a:solidFill>
              </a:rPr>
              <a:t>Collagen Sponges: accuracy vs. selected bands</a:t>
            </a:r>
          </a:p>
        </p:txBody>
      </p:sp>
      <p:pic>
        <p:nvPicPr>
          <p:cNvPr id="4" name="Picture 3" descr="accuracy_envelope.png"/>
          <p:cNvPicPr>
            <a:picLocks noChangeAspect="1"/>
          </p:cNvPicPr>
          <p:nvPr/>
        </p:nvPicPr>
        <p:blipFill>
          <a:blip r:embed="rId2"/>
          <a:stretch>
            <a:fillRect/>
          </a:stretch>
        </p:blipFill>
        <p:spPr>
          <a:xfrm>
            <a:off x="548640" y="1097280"/>
            <a:ext cx="7315200" cy="4541212"/>
          </a:xfrm>
          <a:prstGeom prst="rect">
            <a:avLst/>
          </a:prstGeom>
        </p:spPr>
      </p:pic>
      <p:sp>
        <p:nvSpPr>
          <p:cNvPr id="5" name="TextBox 4"/>
          <p:cNvSpPr txBox="1"/>
          <p:nvPr/>
        </p:nvSpPr>
        <p:spPr>
          <a:xfrm>
            <a:off x="8138160" y="1188720"/>
            <a:ext cx="3840480" cy="5029200"/>
          </a:xfrm>
          <a:prstGeom prst="rect">
            <a:avLst/>
          </a:prstGeom>
          <a:noFill/>
        </p:spPr>
        <p:txBody>
          <a:bodyPr wrap="square">
            <a:spAutoFit/>
          </a:bodyPr>
          <a:lstStyle/>
          <a:p>
            <a:pPr algn="l">
              <a:spcAft>
                <a:spcPts val="600"/>
              </a:spcAft>
            </a:pPr>
            <a:r>
              <a:rPr sz="1300">
                <a:solidFill>
                  <a:srgbClr val="333333"/>
                </a:solidFill>
              </a:rPr>
              <a:t>• 158 bands (baseline): 79.8%</a:t>
            </a:r>
          </a:p>
          <a:p>
            <a:pPr algn="l">
              <a:spcAft>
                <a:spcPts val="600"/>
              </a:spcAft>
            </a:pPr>
            <a:r>
              <a:rPr sz="1300">
                <a:solidFill>
                  <a:srgbClr val="333333"/>
                </a:solidFill>
              </a:rPr>
              <a:t>• 5 bands: 80.9% (+1.1 pp)</a:t>
            </a:r>
          </a:p>
          <a:p>
            <a:pPr algn="l">
              <a:spcAft>
                <a:spcPts val="600"/>
              </a:spcAft>
            </a:pPr>
            <a:r>
              <a:rPr sz="1300">
                <a:solidFill>
                  <a:srgbClr val="333333"/>
                </a:solidFill>
              </a:rPr>
              <a:t>• 10 bands: 81.7% (+1.9 pp)</a:t>
            </a:r>
          </a:p>
          <a:p>
            <a:pPr algn="l">
              <a:spcAft>
                <a:spcPts val="600"/>
              </a:spcAft>
            </a:pPr>
            <a:r>
              <a:rPr sz="1300">
                <a:solidFill>
                  <a:srgbClr val="333333"/>
                </a:solidFill>
              </a:rPr>
              <a:t>• 15 bands: 82.4% (+2.6 pp)</a:t>
            </a:r>
          </a:p>
          <a:p>
            <a:pPr algn="l">
              <a:spcAft>
                <a:spcPts val="600"/>
              </a:spcAft>
            </a:pPr>
            <a:r>
              <a:rPr sz="1300">
                <a:solidFill>
                  <a:srgbClr val="333333"/>
                </a:solidFill>
              </a:rPr>
              <a:t>• 20 bands: 85.0% (+5.2 pp)</a:t>
            </a:r>
          </a:p>
          <a:p>
            <a:pPr algn="l">
              <a:spcAft>
                <a:spcPts val="600"/>
              </a:spcAft>
            </a:pPr>
            <a:r>
              <a:rPr sz="1300">
                <a:solidFill>
                  <a:srgbClr val="333333"/>
                </a:solidFill>
              </a:rPr>
              <a:t>• 30 bands: 85.6% (+5.8 pp) — peak</a:t>
            </a:r>
          </a:p>
          <a:p>
            <a:pPr algn="l">
              <a:spcAft>
                <a:spcPts val="600"/>
              </a:spcAft>
            </a:pPr>
            <a:r>
              <a:rPr sz="1300">
                <a:solidFill>
                  <a:srgbClr val="333333"/>
                </a:solidFill>
              </a:rPr>
              <a:t>• Every K from 5 to 130 exceeds baseline</a:t>
            </a:r>
          </a:p>
          <a:p>
            <a:pPr algn="l">
              <a:spcAft>
                <a:spcPts val="600"/>
              </a:spcAft>
            </a:pPr>
            <a:r>
              <a:rPr sz="1300">
                <a:solidFill>
                  <a:srgbClr val="333333"/>
                </a:solidFill>
              </a:rPr>
              <a:t>• Same pipeline, no retuning</a:t>
            </a:r>
          </a:p>
        </p:txBody>
      </p:sp>
      <p:sp>
        <p:nvSpPr>
          <p:cNvPr id="6" name="TextBox 5"/>
          <p:cNvSpPr txBox="1"/>
          <p:nvPr/>
        </p:nvSpPr>
        <p:spPr>
          <a:xfrm>
            <a:off x="365760" y="6492240"/>
            <a:ext cx="6400800" cy="274320"/>
          </a:xfrm>
          <a:prstGeom prst="rect">
            <a:avLst/>
          </a:prstGeom>
          <a:noFill/>
        </p:spPr>
        <p:txBody>
          <a:bodyPr wrap="square" anchor="t">
            <a:spAutoFit/>
          </a:bodyPr>
          <a:lstStyle/>
          <a:p>
            <a:pPr algn="l"/>
            <a:r>
              <a:rPr sz="900" b="0" i="1">
                <a:solidFill>
                  <a:srgbClr val="888888"/>
                </a:solidFill>
              </a:rPr>
              <a:t>Master's Thesis Defense — Narek Meloyan — 2026</a:t>
            </a:r>
          </a:p>
        </p:txBody>
      </p:sp>
      <p:sp>
        <p:nvSpPr>
          <p:cNvPr id="7" name="TextBox 6"/>
          <p:cNvSpPr txBox="1"/>
          <p:nvPr/>
        </p:nvSpPr>
        <p:spPr>
          <a:xfrm>
            <a:off x="11155680" y="6492240"/>
            <a:ext cx="731520" cy="274320"/>
          </a:xfrm>
          <a:prstGeom prst="rect">
            <a:avLst/>
          </a:prstGeom>
          <a:noFill/>
        </p:spPr>
        <p:txBody>
          <a:bodyPr wrap="square" anchor="t">
            <a:spAutoFit/>
          </a:bodyPr>
          <a:lstStyle/>
          <a:p>
            <a:pPr algn="r"/>
            <a:r>
              <a:rPr sz="900" b="0" i="0">
                <a:solidFill>
                  <a:srgbClr val="888888"/>
                </a:solidFill>
              </a:rPr>
              <a:t>24 / 31</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48640"/>
          </a:xfrm>
          <a:prstGeom prst="rect">
            <a:avLst/>
          </a:prstGeom>
          <a:noFill/>
        </p:spPr>
        <p:txBody>
          <a:bodyPr wrap="square" anchor="ctr">
            <a:spAutoFit/>
          </a:bodyPr>
          <a:lstStyle/>
          <a:p>
            <a:pPr algn="l"/>
            <a:r>
              <a:rPr sz="2600" b="1" i="0">
                <a:solidFill>
                  <a:srgbClr val="FFFFFF"/>
                </a:solidFill>
              </a:rPr>
              <a:t>Collagen Sponges: wavelength importance map</a:t>
            </a:r>
          </a:p>
        </p:txBody>
      </p:sp>
      <p:pic>
        <p:nvPicPr>
          <p:cNvPr id="4" name="Picture 3" descr="wavelength_heatmap.png"/>
          <p:cNvPicPr>
            <a:picLocks noChangeAspect="1"/>
          </p:cNvPicPr>
          <p:nvPr/>
        </p:nvPicPr>
        <p:blipFill>
          <a:blip r:embed="rId2"/>
          <a:stretch>
            <a:fillRect/>
          </a:stretch>
        </p:blipFill>
        <p:spPr>
          <a:xfrm>
            <a:off x="365760" y="1371600"/>
            <a:ext cx="7772400" cy="3367271"/>
          </a:xfrm>
          <a:prstGeom prst="rect">
            <a:avLst/>
          </a:prstGeom>
        </p:spPr>
      </p:pic>
      <p:sp>
        <p:nvSpPr>
          <p:cNvPr id="5" name="TextBox 4"/>
          <p:cNvSpPr txBox="1"/>
          <p:nvPr/>
        </p:nvSpPr>
        <p:spPr>
          <a:xfrm>
            <a:off x="8412480" y="1371600"/>
            <a:ext cx="3566160" cy="4572000"/>
          </a:xfrm>
          <a:prstGeom prst="rect">
            <a:avLst/>
          </a:prstGeom>
          <a:noFill/>
        </p:spPr>
        <p:txBody>
          <a:bodyPr wrap="square">
            <a:spAutoFit/>
          </a:bodyPr>
          <a:lstStyle/>
          <a:p>
            <a:pPr algn="l">
              <a:spcAft>
                <a:spcPts val="600"/>
              </a:spcAft>
            </a:pPr>
            <a:r>
              <a:rPr sz="1300">
                <a:solidFill>
                  <a:srgbClr val="333333"/>
                </a:solidFill>
              </a:rPr>
              <a:t>• 6 excitations × emission bands</a:t>
            </a:r>
          </a:p>
          <a:p>
            <a:pPr algn="l">
              <a:spcAft>
                <a:spcPts val="600"/>
              </a:spcAft>
            </a:pPr>
            <a:r>
              <a:rPr sz="1300">
                <a:solidFill>
                  <a:srgbClr val="333333"/>
                </a:solidFill>
              </a:rPr>
              <a:t>• Hot region:</a:t>
            </a:r>
          </a:p>
          <a:p>
            <a:pPr algn="l" lvl="1">
              <a:spcAft>
                <a:spcPts val="600"/>
              </a:spcAft>
            </a:pPr>
            <a:r>
              <a:rPr sz="1000">
                <a:solidFill>
                  <a:srgbClr val="333333"/>
                </a:solidFill>
              </a:rPr>
              <a:t>– 600 – 690 nm emission</a:t>
            </a:r>
          </a:p>
          <a:p>
            <a:pPr algn="l" lvl="1">
              <a:spcAft>
                <a:spcPts val="600"/>
              </a:spcAft>
            </a:pPr>
            <a:r>
              <a:rPr sz="1000">
                <a:solidFill>
                  <a:srgbClr val="333333"/>
                </a:solidFill>
              </a:rPr>
              <a:t>– 365 – 400 nm excitation</a:t>
            </a:r>
          </a:p>
          <a:p>
            <a:pPr algn="l">
              <a:spcAft>
                <a:spcPts val="600"/>
              </a:spcAft>
            </a:pPr>
            <a:r>
              <a:rPr sz="1300">
                <a:solidFill>
                  <a:srgbClr val="333333"/>
                </a:solidFill>
              </a:rPr>
              <a:t>• Matches collagen autofluorescence physics:</a:t>
            </a:r>
          </a:p>
          <a:p>
            <a:pPr algn="l" lvl="1">
              <a:spcAft>
                <a:spcPts val="600"/>
              </a:spcAft>
            </a:pPr>
            <a:r>
              <a:rPr sz="1000">
                <a:solidFill>
                  <a:srgbClr val="333333"/>
                </a:solidFill>
              </a:rPr>
              <a:t>– Crosslinker-modulated AGE emission</a:t>
            </a:r>
          </a:p>
          <a:p>
            <a:pPr algn="l" lvl="1">
              <a:spcAft>
                <a:spcPts val="600"/>
              </a:spcAft>
            </a:pPr>
            <a:r>
              <a:rPr sz="1000">
                <a:solidFill>
                  <a:srgbClr val="333333"/>
                </a:solidFill>
              </a:rPr>
              <a:t>– Native collagen near short-wave edge</a:t>
            </a:r>
          </a:p>
          <a:p>
            <a:pPr algn="l">
              <a:spcAft>
                <a:spcPts val="600"/>
              </a:spcAft>
            </a:pPr>
            <a:r>
              <a:rPr sz="1300">
                <a:solidFill>
                  <a:srgbClr val="333333"/>
                </a:solidFill>
              </a:rPr>
              <a:t>• Grey: Rayleigh-invalid cells</a:t>
            </a:r>
          </a:p>
        </p:txBody>
      </p:sp>
      <p:sp>
        <p:nvSpPr>
          <p:cNvPr id="6" name="TextBox 5"/>
          <p:cNvSpPr txBox="1"/>
          <p:nvPr/>
        </p:nvSpPr>
        <p:spPr>
          <a:xfrm>
            <a:off x="365760" y="6492240"/>
            <a:ext cx="6400800" cy="274320"/>
          </a:xfrm>
          <a:prstGeom prst="rect">
            <a:avLst/>
          </a:prstGeom>
          <a:noFill/>
        </p:spPr>
        <p:txBody>
          <a:bodyPr wrap="square" anchor="t">
            <a:spAutoFit/>
          </a:bodyPr>
          <a:lstStyle/>
          <a:p>
            <a:pPr algn="l"/>
            <a:r>
              <a:rPr sz="900" b="0" i="1">
                <a:solidFill>
                  <a:srgbClr val="888888"/>
                </a:solidFill>
              </a:rPr>
              <a:t>Master's Thesis Defense — Narek Meloyan — 2026</a:t>
            </a:r>
          </a:p>
        </p:txBody>
      </p:sp>
      <p:sp>
        <p:nvSpPr>
          <p:cNvPr id="7" name="TextBox 6"/>
          <p:cNvSpPr txBox="1"/>
          <p:nvPr/>
        </p:nvSpPr>
        <p:spPr>
          <a:xfrm>
            <a:off x="11155680" y="6492240"/>
            <a:ext cx="731520" cy="274320"/>
          </a:xfrm>
          <a:prstGeom prst="rect">
            <a:avLst/>
          </a:prstGeom>
          <a:noFill/>
        </p:spPr>
        <p:txBody>
          <a:bodyPr wrap="square" anchor="t">
            <a:spAutoFit/>
          </a:bodyPr>
          <a:lstStyle/>
          <a:p>
            <a:pPr algn="r"/>
            <a:r>
              <a:rPr sz="900" b="0" i="0">
                <a:solidFill>
                  <a:srgbClr val="888888"/>
                </a:solidFill>
              </a:rPr>
              <a:t>25 / 31</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48640"/>
          </a:xfrm>
          <a:prstGeom prst="rect">
            <a:avLst/>
          </a:prstGeom>
          <a:noFill/>
        </p:spPr>
        <p:txBody>
          <a:bodyPr wrap="square" anchor="ctr">
            <a:spAutoFit/>
          </a:bodyPr>
          <a:lstStyle/>
          <a:p>
            <a:pPr algn="l"/>
            <a:r>
              <a:rPr sz="2600" b="1" i="0">
                <a:solidFill>
                  <a:srgbClr val="FFFFFF"/>
                </a:solidFill>
              </a:rPr>
              <a:t>Collagen Sponges: classifier-family generalization</a:t>
            </a:r>
          </a:p>
        </p:txBody>
      </p:sp>
      <p:pic>
        <p:nvPicPr>
          <p:cNvPr id="4" name="Picture 3" descr="classifier_curves.png"/>
          <p:cNvPicPr>
            <a:picLocks noChangeAspect="1"/>
          </p:cNvPicPr>
          <p:nvPr/>
        </p:nvPicPr>
        <p:blipFill>
          <a:blip r:embed="rId2"/>
          <a:stretch>
            <a:fillRect/>
          </a:stretch>
        </p:blipFill>
        <p:spPr>
          <a:xfrm>
            <a:off x="457200" y="1097280"/>
            <a:ext cx="7315200" cy="3621785"/>
          </a:xfrm>
          <a:prstGeom prst="rect">
            <a:avLst/>
          </a:prstGeom>
        </p:spPr>
      </p:pic>
      <p:sp>
        <p:nvSpPr>
          <p:cNvPr id="5" name="TextBox 4"/>
          <p:cNvSpPr txBox="1"/>
          <p:nvPr/>
        </p:nvSpPr>
        <p:spPr>
          <a:xfrm>
            <a:off x="7955279" y="1188720"/>
            <a:ext cx="4114800" cy="5029200"/>
          </a:xfrm>
          <a:prstGeom prst="rect">
            <a:avLst/>
          </a:prstGeom>
          <a:noFill/>
        </p:spPr>
        <p:txBody>
          <a:bodyPr wrap="square">
            <a:spAutoFit/>
          </a:bodyPr>
          <a:lstStyle/>
          <a:p>
            <a:pPr algn="l">
              <a:spcAft>
                <a:spcPts val="600"/>
              </a:spcAft>
            </a:pPr>
            <a:r>
              <a:rPr sz="1200">
                <a:solidFill>
                  <a:srgbClr val="333333"/>
                </a:solidFill>
              </a:rPr>
              <a:t>• Same selection, 10 different classifiers:</a:t>
            </a:r>
          </a:p>
          <a:p>
            <a:pPr algn="l" lvl="1">
              <a:spcAft>
                <a:spcPts val="600"/>
              </a:spcAft>
            </a:pPr>
            <a:r>
              <a:rPr sz="900">
                <a:solidFill>
                  <a:srgbClr val="333333"/>
                </a:solidFill>
              </a:rPr>
              <a:t>– KNN (5, 11) — uniform + distance</a:t>
            </a:r>
          </a:p>
          <a:p>
            <a:pPr algn="l" lvl="1">
              <a:spcAft>
                <a:spcPts val="600"/>
              </a:spcAft>
            </a:pPr>
            <a:r>
              <a:rPr sz="900">
                <a:solidFill>
                  <a:srgbClr val="333333"/>
                </a:solidFill>
              </a:rPr>
              <a:t>– LDA</a:t>
            </a:r>
          </a:p>
          <a:p>
            <a:pPr algn="l" lvl="1">
              <a:spcAft>
                <a:spcPts val="600"/>
              </a:spcAft>
            </a:pPr>
            <a:r>
              <a:rPr sz="900">
                <a:solidFill>
                  <a:srgbClr val="333333"/>
                </a:solidFill>
              </a:rPr>
              <a:t>– SVM (linear, RBF)</a:t>
            </a:r>
          </a:p>
          <a:p>
            <a:pPr algn="l" lvl="1">
              <a:spcAft>
                <a:spcPts val="600"/>
              </a:spcAft>
            </a:pPr>
            <a:r>
              <a:rPr sz="900">
                <a:solidFill>
                  <a:srgbClr val="333333"/>
                </a:solidFill>
              </a:rPr>
              <a:t>– MLP</a:t>
            </a:r>
          </a:p>
          <a:p>
            <a:pPr algn="l" lvl="1">
              <a:spcAft>
                <a:spcPts val="600"/>
              </a:spcAft>
            </a:pPr>
            <a:r>
              <a:rPr sz="900">
                <a:solidFill>
                  <a:srgbClr val="333333"/>
                </a:solidFill>
              </a:rPr>
              <a:t>– Random Forest (100, 300)</a:t>
            </a:r>
          </a:p>
          <a:p>
            <a:pPr algn="l" lvl="1">
              <a:spcAft>
                <a:spcPts val="600"/>
              </a:spcAft>
            </a:pPr>
            <a:r>
              <a:rPr sz="900">
                <a:solidFill>
                  <a:srgbClr val="333333"/>
                </a:solidFill>
              </a:rPr>
              <a:t>– Gradient Boosting</a:t>
            </a:r>
          </a:p>
          <a:p>
            <a:pPr algn="l">
              <a:spcAft>
                <a:spcPts val="600"/>
              </a:spcAft>
            </a:pPr>
            <a:r>
              <a:rPr sz="1200">
                <a:solidFill>
                  <a:srgbClr val="333333"/>
                </a:solidFill>
              </a:rPr>
              <a:t>• 9 of 10 classifiers benefit</a:t>
            </a:r>
          </a:p>
          <a:p>
            <a:pPr algn="l">
              <a:spcAft>
                <a:spcPts val="600"/>
              </a:spcAft>
            </a:pPr>
            <a:r>
              <a:rPr sz="1200">
                <a:solidFill>
                  <a:srgbClr val="333333"/>
                </a:solidFill>
              </a:rPr>
              <a:t>• LDA peaks: 92.5% on K=50 (vs. 92.8% on all 158)</a:t>
            </a:r>
          </a:p>
          <a:p>
            <a:pPr algn="l">
              <a:spcAft>
                <a:spcPts val="600"/>
              </a:spcAft>
            </a:pPr>
            <a:r>
              <a:rPr sz="1200">
                <a:solidFill>
                  <a:srgbClr val="333333"/>
                </a:solidFill>
              </a:rPr>
              <a:t>• Selected bands carry PORTABLE information — not KNN-tuned</a:t>
            </a:r>
          </a:p>
        </p:txBody>
      </p:sp>
      <p:sp>
        <p:nvSpPr>
          <p:cNvPr id="6" name="TextBox 5"/>
          <p:cNvSpPr txBox="1"/>
          <p:nvPr/>
        </p:nvSpPr>
        <p:spPr>
          <a:xfrm>
            <a:off x="365760" y="6492240"/>
            <a:ext cx="6400800" cy="274320"/>
          </a:xfrm>
          <a:prstGeom prst="rect">
            <a:avLst/>
          </a:prstGeom>
          <a:noFill/>
        </p:spPr>
        <p:txBody>
          <a:bodyPr wrap="square" anchor="t">
            <a:spAutoFit/>
          </a:bodyPr>
          <a:lstStyle/>
          <a:p>
            <a:pPr algn="l"/>
            <a:r>
              <a:rPr sz="900" b="0" i="1">
                <a:solidFill>
                  <a:srgbClr val="888888"/>
                </a:solidFill>
              </a:rPr>
              <a:t>Master's Thesis Defense — Narek Meloyan — 2026</a:t>
            </a:r>
          </a:p>
        </p:txBody>
      </p:sp>
      <p:sp>
        <p:nvSpPr>
          <p:cNvPr id="7" name="TextBox 6"/>
          <p:cNvSpPr txBox="1"/>
          <p:nvPr/>
        </p:nvSpPr>
        <p:spPr>
          <a:xfrm>
            <a:off x="11155680" y="6492240"/>
            <a:ext cx="731520" cy="274320"/>
          </a:xfrm>
          <a:prstGeom prst="rect">
            <a:avLst/>
          </a:prstGeom>
          <a:noFill/>
        </p:spPr>
        <p:txBody>
          <a:bodyPr wrap="square" anchor="t">
            <a:spAutoFit/>
          </a:bodyPr>
          <a:lstStyle/>
          <a:p>
            <a:pPr algn="r"/>
            <a:r>
              <a:rPr sz="900" b="0" i="0">
                <a:solidFill>
                  <a:srgbClr val="888888"/>
                </a:solidFill>
              </a:rPr>
              <a:t>26 / 31</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48640"/>
          </a:xfrm>
          <a:prstGeom prst="rect">
            <a:avLst/>
          </a:prstGeom>
          <a:noFill/>
        </p:spPr>
        <p:txBody>
          <a:bodyPr wrap="square" anchor="ctr">
            <a:spAutoFit/>
          </a:bodyPr>
          <a:lstStyle/>
          <a:p>
            <a:pPr algn="l"/>
            <a:r>
              <a:rPr sz="2600" b="1" i="0">
                <a:solidFill>
                  <a:srgbClr val="FFFFFF"/>
                </a:solidFill>
              </a:rPr>
              <a:t>Discussion: what does this mean?</a:t>
            </a:r>
          </a:p>
        </p:txBody>
      </p:sp>
      <p:sp>
        <p:nvSpPr>
          <p:cNvPr id="4" name="TextBox 3"/>
          <p:cNvSpPr txBox="1"/>
          <p:nvPr/>
        </p:nvSpPr>
        <p:spPr>
          <a:xfrm>
            <a:off x="457200" y="1097280"/>
            <a:ext cx="11338560" cy="5212080"/>
          </a:xfrm>
          <a:prstGeom prst="rect">
            <a:avLst/>
          </a:prstGeom>
          <a:noFill/>
        </p:spPr>
        <p:txBody>
          <a:bodyPr wrap="square">
            <a:spAutoFit/>
          </a:bodyPr>
          <a:lstStyle/>
          <a:p>
            <a:pPr algn="l">
              <a:spcAft>
                <a:spcPts val="600"/>
              </a:spcAft>
            </a:pPr>
            <a:r>
              <a:rPr sz="1400">
                <a:solidFill>
                  <a:srgbClr val="333333"/>
                </a:solidFill>
              </a:rPr>
              <a:t>• Across two ME-HSI datasets (lichens, collagen sponges):</a:t>
            </a:r>
          </a:p>
          <a:p>
            <a:pPr algn="l" lvl="1">
              <a:spcAft>
                <a:spcPts val="600"/>
              </a:spcAft>
            </a:pPr>
            <a:r>
              <a:rPr sz="1100">
                <a:solidFill>
                  <a:srgbClr val="333333"/>
                </a:solidFill>
              </a:rPr>
              <a:t>– Selected wavelengths consistently MEET or EXCEED the full-spectrum baseline</a:t>
            </a:r>
          </a:p>
          <a:p>
            <a:pPr algn="l" lvl="1">
              <a:spcAft>
                <a:spcPts val="600"/>
              </a:spcAft>
            </a:pPr>
            <a:r>
              <a:rPr sz="1100">
                <a:solidFill>
                  <a:srgbClr val="333333"/>
                </a:solidFill>
              </a:rPr>
              <a:t>– At 80 – 95% data reduction — i.e. fewer channels, faster inference</a:t>
            </a:r>
          </a:p>
          <a:p>
            <a:pPr algn="l">
              <a:spcAft>
                <a:spcPts val="600"/>
              </a:spcAft>
            </a:pPr>
            <a:r>
              <a:rPr sz="1400">
                <a:solidFill>
                  <a:srgbClr val="333333"/>
                </a:solidFill>
              </a:rPr>
              <a:t>• Three reasons it works:</a:t>
            </a:r>
          </a:p>
          <a:p>
            <a:pPr algn="l" lvl="1">
              <a:spcAft>
                <a:spcPts val="600"/>
              </a:spcAft>
            </a:pPr>
            <a:r>
              <a:rPr sz="1100">
                <a:solidFill>
                  <a:srgbClr val="333333"/>
                </a:solidFill>
              </a:rPr>
              <a:t>– Causal attribution: perturbation measures what the network DEPENDS on, not just what's variable</a:t>
            </a:r>
          </a:p>
          <a:p>
            <a:pPr algn="l" lvl="1">
              <a:spcAft>
                <a:spcPts val="600"/>
              </a:spcAft>
            </a:pPr>
            <a:r>
              <a:rPr sz="1100">
                <a:solidFill>
                  <a:srgbClr val="333333"/>
                </a:solidFill>
              </a:rPr>
              <a:t>– Joint 4D representation: cross-excitation correlations captured by parallel branches + averaging</a:t>
            </a:r>
          </a:p>
          <a:p>
            <a:pPr algn="l" lvl="1">
              <a:spcAft>
                <a:spcPts val="600"/>
              </a:spcAft>
            </a:pPr>
            <a:r>
              <a:rPr sz="1100">
                <a:solidFill>
                  <a:srgbClr val="333333"/>
                </a:solidFill>
              </a:rPr>
              <a:t>– Diversity-aware MMR: prevents redundant clustered selections</a:t>
            </a:r>
          </a:p>
          <a:p>
            <a:pPr algn="l">
              <a:spcAft>
                <a:spcPts val="600"/>
              </a:spcAft>
            </a:pPr>
            <a:r>
              <a:rPr sz="1400">
                <a:solidFill>
                  <a:srgbClr val="333333"/>
                </a:solidFill>
              </a:rPr>
              <a:t>• Cross-domain transfer:</a:t>
            </a:r>
          </a:p>
          <a:p>
            <a:pPr algn="l" lvl="1">
              <a:spcAft>
                <a:spcPts val="600"/>
              </a:spcAft>
            </a:pPr>
            <a:r>
              <a:rPr sz="1100">
                <a:solidFill>
                  <a:srgbClr val="333333"/>
                </a:solidFill>
              </a:rPr>
              <a:t>– Same pipeline, no retuning, works on two chemically distinct samples</a:t>
            </a:r>
          </a:p>
          <a:p>
            <a:pPr algn="l" lvl="1">
              <a:spcAft>
                <a:spcPts val="600"/>
              </a:spcAft>
            </a:pPr>
            <a:r>
              <a:rPr sz="1100">
                <a:solidFill>
                  <a:srgbClr val="333333"/>
                </a:solidFill>
              </a:rPr>
              <a:t>– Only the dim-scoring strategy (PCA-k=3 for Lichens, variance-k=1 for Collagen) needs per-dataset choice</a:t>
            </a:r>
          </a:p>
        </p:txBody>
      </p:sp>
      <p:sp>
        <p:nvSpPr>
          <p:cNvPr id="5" name="TextBox 4"/>
          <p:cNvSpPr txBox="1"/>
          <p:nvPr/>
        </p:nvSpPr>
        <p:spPr>
          <a:xfrm>
            <a:off x="365760" y="6492240"/>
            <a:ext cx="6400800" cy="274320"/>
          </a:xfrm>
          <a:prstGeom prst="rect">
            <a:avLst/>
          </a:prstGeom>
          <a:noFill/>
        </p:spPr>
        <p:txBody>
          <a:bodyPr wrap="square" anchor="t">
            <a:spAutoFit/>
          </a:bodyPr>
          <a:lstStyle/>
          <a:p>
            <a:pPr algn="l"/>
            <a:r>
              <a:rPr sz="900" b="0" i="1">
                <a:solidFill>
                  <a:srgbClr val="888888"/>
                </a:solidFill>
              </a:rPr>
              <a:t>Master's Thesis Defense — Narek Meloyan — 2026</a:t>
            </a:r>
          </a:p>
        </p:txBody>
      </p:sp>
      <p:sp>
        <p:nvSpPr>
          <p:cNvPr id="6" name="TextBox 5"/>
          <p:cNvSpPr txBox="1"/>
          <p:nvPr/>
        </p:nvSpPr>
        <p:spPr>
          <a:xfrm>
            <a:off x="11155680" y="6492240"/>
            <a:ext cx="731520" cy="274320"/>
          </a:xfrm>
          <a:prstGeom prst="rect">
            <a:avLst/>
          </a:prstGeom>
          <a:noFill/>
        </p:spPr>
        <p:txBody>
          <a:bodyPr wrap="square" anchor="t">
            <a:spAutoFit/>
          </a:bodyPr>
          <a:lstStyle/>
          <a:p>
            <a:pPr algn="r"/>
            <a:r>
              <a:rPr sz="900" b="0" i="0">
                <a:solidFill>
                  <a:srgbClr val="888888"/>
                </a:solidFill>
              </a:rPr>
              <a:t>27 / 31</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48640"/>
          </a:xfrm>
          <a:prstGeom prst="rect">
            <a:avLst/>
          </a:prstGeom>
          <a:noFill/>
        </p:spPr>
        <p:txBody>
          <a:bodyPr wrap="square" anchor="ctr">
            <a:spAutoFit/>
          </a:bodyPr>
          <a:lstStyle/>
          <a:p>
            <a:pPr algn="l"/>
            <a:r>
              <a:rPr sz="2600" b="1" i="0">
                <a:solidFill>
                  <a:srgbClr val="FFFFFF"/>
                </a:solidFill>
              </a:rPr>
              <a:t>Limitations &amp; honest scope</a:t>
            </a:r>
          </a:p>
        </p:txBody>
      </p:sp>
      <p:sp>
        <p:nvSpPr>
          <p:cNvPr id="4" name="TextBox 3"/>
          <p:cNvSpPr txBox="1"/>
          <p:nvPr/>
        </p:nvSpPr>
        <p:spPr>
          <a:xfrm>
            <a:off x="457200" y="1097280"/>
            <a:ext cx="11338560" cy="5212080"/>
          </a:xfrm>
          <a:prstGeom prst="rect">
            <a:avLst/>
          </a:prstGeom>
          <a:noFill/>
        </p:spPr>
        <p:txBody>
          <a:bodyPr wrap="square">
            <a:spAutoFit/>
          </a:bodyPr>
          <a:lstStyle/>
          <a:p>
            <a:pPr algn="l">
              <a:spcAft>
                <a:spcPts val="600"/>
              </a:spcAft>
            </a:pPr>
            <a:r>
              <a:rPr sz="1400">
                <a:solidFill>
                  <a:srgbClr val="333333"/>
                </a:solidFill>
              </a:rPr>
              <a:t>• Computational cost:</a:t>
            </a:r>
          </a:p>
          <a:p>
            <a:pPr algn="l" lvl="1">
              <a:spcAft>
                <a:spcPts val="600"/>
              </a:spcAft>
            </a:pPr>
            <a:r>
              <a:rPr sz="1100">
                <a:solidFill>
                  <a:srgbClr val="333333"/>
                </a:solidFill>
              </a:rPr>
              <a:t>– Full pipeline ~2 hr on RTX 4070 for Lichens (~30 min train + ~90 min sweep)</a:t>
            </a:r>
          </a:p>
          <a:p>
            <a:pPr algn="l" lvl="1">
              <a:spcAft>
                <a:spcPts val="600"/>
              </a:spcAft>
            </a:pPr>
            <a:r>
              <a:rPr sz="1100">
                <a:solidFill>
                  <a:srgbClr val="333333"/>
                </a:solidFill>
              </a:rPr>
              <a:t>– 75% of compute is the perturbation phase — embarrassingly parallel, ~3× speedup possible</a:t>
            </a:r>
          </a:p>
          <a:p>
            <a:pPr algn="l" lvl="1">
              <a:spcAft>
                <a:spcPts val="600"/>
              </a:spcAft>
            </a:pPr>
            <a:r>
              <a:rPr sz="1100">
                <a:solidFill>
                  <a:srgbClr val="333333"/>
                </a:solidFill>
              </a:rPr>
              <a:t>– One-time per sample type — amortised over downstream inference (K/192 ≈ 21× faster at K=9)</a:t>
            </a:r>
          </a:p>
          <a:p>
            <a:pPr algn="l">
              <a:spcAft>
                <a:spcPts val="600"/>
              </a:spcAft>
            </a:pPr>
            <a:r>
              <a:rPr sz="1400">
                <a:solidFill>
                  <a:srgbClr val="333333"/>
                </a:solidFill>
              </a:rPr>
              <a:t>• Black-box attribution:</a:t>
            </a:r>
          </a:p>
          <a:p>
            <a:pPr algn="l" lvl="1">
              <a:spcAft>
                <a:spcPts val="600"/>
              </a:spcAft>
            </a:pPr>
            <a:r>
              <a:rPr sz="1100">
                <a:solidFill>
                  <a:srgbClr val="333333"/>
                </a:solidFill>
              </a:rPr>
              <a:t>– Perturbation tells WHICH bands matter, not WHY (in chemical terms)</a:t>
            </a:r>
          </a:p>
          <a:p>
            <a:pPr algn="l" lvl="1">
              <a:spcAft>
                <a:spcPts val="600"/>
              </a:spcAft>
            </a:pPr>
            <a:r>
              <a:rPr sz="1100">
                <a:solidFill>
                  <a:srgbClr val="333333"/>
                </a:solidFill>
              </a:rPr>
              <a:t>– Linking selections to specific fluorophores still requires domain expertise</a:t>
            </a:r>
          </a:p>
          <a:p>
            <a:pPr algn="l">
              <a:spcAft>
                <a:spcPts val="600"/>
              </a:spcAft>
            </a:pPr>
            <a:r>
              <a:rPr sz="1400">
                <a:solidFill>
                  <a:srgbClr val="333333"/>
                </a:solidFill>
              </a:rPr>
              <a:t>• Threshold selection:</a:t>
            </a:r>
          </a:p>
          <a:p>
            <a:pPr algn="l" lvl="1">
              <a:spcAft>
                <a:spcPts val="600"/>
              </a:spcAft>
            </a:pPr>
            <a:r>
              <a:rPr sz="1100">
                <a:solidFill>
                  <a:srgbClr val="333333"/>
                </a:solidFill>
              </a:rPr>
              <a:t>– User must specify K — automated elbow detection is future work</a:t>
            </a:r>
          </a:p>
          <a:p>
            <a:pPr algn="l">
              <a:spcAft>
                <a:spcPts val="600"/>
              </a:spcAft>
            </a:pPr>
            <a:r>
              <a:rPr sz="1400">
                <a:solidFill>
                  <a:srgbClr val="333333"/>
                </a:solidFill>
              </a:rPr>
              <a:t>• Dataset breadth:</a:t>
            </a:r>
          </a:p>
          <a:p>
            <a:pPr algn="l" lvl="1">
              <a:spcAft>
                <a:spcPts val="600"/>
              </a:spcAft>
            </a:pPr>
            <a:r>
              <a:rPr sz="1100">
                <a:solidFill>
                  <a:srgbClr val="333333"/>
                </a:solidFill>
              </a:rPr>
              <a:t>– Two ME-HSI fluorescence datasets; extending to remote-sensing HSI is future work</a:t>
            </a:r>
          </a:p>
        </p:txBody>
      </p:sp>
      <p:sp>
        <p:nvSpPr>
          <p:cNvPr id="5" name="TextBox 4"/>
          <p:cNvSpPr txBox="1"/>
          <p:nvPr/>
        </p:nvSpPr>
        <p:spPr>
          <a:xfrm>
            <a:off x="365760" y="6492240"/>
            <a:ext cx="6400800" cy="274320"/>
          </a:xfrm>
          <a:prstGeom prst="rect">
            <a:avLst/>
          </a:prstGeom>
          <a:noFill/>
        </p:spPr>
        <p:txBody>
          <a:bodyPr wrap="square" anchor="t">
            <a:spAutoFit/>
          </a:bodyPr>
          <a:lstStyle/>
          <a:p>
            <a:pPr algn="l"/>
            <a:r>
              <a:rPr sz="900" b="0" i="1">
                <a:solidFill>
                  <a:srgbClr val="888888"/>
                </a:solidFill>
              </a:rPr>
              <a:t>Master's Thesis Defense — Narek Meloyan — 2026</a:t>
            </a:r>
          </a:p>
        </p:txBody>
      </p:sp>
      <p:sp>
        <p:nvSpPr>
          <p:cNvPr id="6" name="TextBox 5"/>
          <p:cNvSpPr txBox="1"/>
          <p:nvPr/>
        </p:nvSpPr>
        <p:spPr>
          <a:xfrm>
            <a:off x="11155680" y="6492240"/>
            <a:ext cx="731520" cy="274320"/>
          </a:xfrm>
          <a:prstGeom prst="rect">
            <a:avLst/>
          </a:prstGeom>
          <a:noFill/>
        </p:spPr>
        <p:txBody>
          <a:bodyPr wrap="square" anchor="t">
            <a:spAutoFit/>
          </a:bodyPr>
          <a:lstStyle/>
          <a:p>
            <a:pPr algn="r"/>
            <a:r>
              <a:rPr sz="900" b="0" i="0">
                <a:solidFill>
                  <a:srgbClr val="888888"/>
                </a:solidFill>
              </a:rPr>
              <a:t>28 / 31</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48640"/>
          </a:xfrm>
          <a:prstGeom prst="rect">
            <a:avLst/>
          </a:prstGeom>
          <a:noFill/>
        </p:spPr>
        <p:txBody>
          <a:bodyPr wrap="square" anchor="ctr">
            <a:spAutoFit/>
          </a:bodyPr>
          <a:lstStyle/>
          <a:p>
            <a:pPr algn="l"/>
            <a:r>
              <a:rPr sz="2600" b="1" i="0">
                <a:solidFill>
                  <a:srgbClr val="FFFFFF"/>
                </a:solidFill>
              </a:rPr>
              <a:t>Conclusion &amp; future directions</a:t>
            </a:r>
          </a:p>
        </p:txBody>
      </p:sp>
      <p:sp>
        <p:nvSpPr>
          <p:cNvPr id="4" name="TextBox 3"/>
          <p:cNvSpPr txBox="1"/>
          <p:nvPr/>
        </p:nvSpPr>
        <p:spPr>
          <a:xfrm>
            <a:off x="457200" y="1097280"/>
            <a:ext cx="11338560" cy="5212080"/>
          </a:xfrm>
          <a:prstGeom prst="rect">
            <a:avLst/>
          </a:prstGeom>
          <a:noFill/>
        </p:spPr>
        <p:txBody>
          <a:bodyPr wrap="square">
            <a:spAutoFit/>
          </a:bodyPr>
          <a:lstStyle/>
          <a:p>
            <a:pPr algn="l">
              <a:spcAft>
                <a:spcPts val="600"/>
              </a:spcAft>
            </a:pPr>
            <a:r>
              <a:rPr sz="1400">
                <a:solidFill>
                  <a:srgbClr val="333333"/>
                </a:solidFill>
              </a:rPr>
              <a:t>• Summary:</a:t>
            </a:r>
          </a:p>
          <a:p>
            <a:pPr algn="l" lvl="1">
              <a:spcAft>
                <a:spcPts val="600"/>
              </a:spcAft>
            </a:pPr>
            <a:r>
              <a:rPr sz="1100">
                <a:solidFill>
                  <a:srgbClr val="333333"/>
                </a:solidFill>
              </a:rPr>
              <a:t>– First deep-learning wavelength selection method designed for 4D ME-HSI</a:t>
            </a:r>
          </a:p>
          <a:p>
            <a:pPr algn="l" lvl="1">
              <a:spcAft>
                <a:spcPts val="600"/>
              </a:spcAft>
            </a:pPr>
            <a:r>
              <a:rPr sz="1100">
                <a:solidFill>
                  <a:srgbClr val="333333"/>
                </a:solidFill>
              </a:rPr>
              <a:t>– Three stages: parallel-branch 3D CAE + perturbation attribution + MMR diversity</a:t>
            </a:r>
          </a:p>
          <a:p>
            <a:pPr algn="l" lvl="1">
              <a:spcAft>
                <a:spcPts val="600"/>
              </a:spcAft>
            </a:pPr>
            <a:r>
              <a:rPr sz="1100">
                <a:solidFill>
                  <a:srgbClr val="333333"/>
                </a:solidFill>
              </a:rPr>
              <a:t>– Lichens: 95.2% @ K=80 (108% of baseline) | 89.4% @ K=9 (95% reduction)</a:t>
            </a:r>
          </a:p>
          <a:p>
            <a:pPr algn="l" lvl="1">
              <a:spcAft>
                <a:spcPts val="600"/>
              </a:spcAft>
            </a:pPr>
            <a:r>
              <a:rPr sz="1100">
                <a:solidFill>
                  <a:srgbClr val="333333"/>
                </a:solidFill>
              </a:rPr>
              <a:t>– Collagen Sponges: 85.6% @ K=30 (107% of baseline)</a:t>
            </a:r>
          </a:p>
          <a:p>
            <a:pPr algn="l" lvl="1">
              <a:spcAft>
                <a:spcPts val="600"/>
              </a:spcAft>
            </a:pPr>
            <a:r>
              <a:rPr sz="1100">
                <a:solidFill>
                  <a:srgbClr val="333333"/>
                </a:solidFill>
              </a:rPr>
              <a:t>– Validated via robustness vs 10,000 random AND classifier-family generalization (10 classifiers)</a:t>
            </a:r>
          </a:p>
          <a:p>
            <a:pPr algn="l">
              <a:spcAft>
                <a:spcPts val="600"/>
              </a:spcAft>
            </a:pPr>
            <a:r>
              <a:rPr sz="1400">
                <a:solidFill>
                  <a:srgbClr val="333333"/>
                </a:solidFill>
              </a:rPr>
              <a:t>• Future work:</a:t>
            </a:r>
          </a:p>
          <a:p>
            <a:pPr algn="l" lvl="1">
              <a:spcAft>
                <a:spcPts val="600"/>
              </a:spcAft>
            </a:pPr>
            <a:r>
              <a:rPr sz="1100">
                <a:solidFill>
                  <a:srgbClr val="333333"/>
                </a:solidFill>
              </a:rPr>
              <a:t>– Larger ME-HSI corpus: more sample types, more excitation grids</a:t>
            </a:r>
          </a:p>
          <a:p>
            <a:pPr algn="l" lvl="1">
              <a:spcAft>
                <a:spcPts val="600"/>
              </a:spcAft>
            </a:pPr>
            <a:r>
              <a:rPr sz="1100">
                <a:solidFill>
                  <a:srgbClr val="333333"/>
                </a:solidFill>
              </a:rPr>
              <a:t>– Automated K selection via reconstruction-knee or stability criteria</a:t>
            </a:r>
          </a:p>
          <a:p>
            <a:pPr algn="l" lvl="1">
              <a:spcAft>
                <a:spcPts val="600"/>
              </a:spcAft>
            </a:pPr>
            <a:r>
              <a:rPr sz="1100">
                <a:solidFill>
                  <a:srgbClr val="333333"/>
                </a:solidFill>
              </a:rPr>
              <a:t>– Interpretable attribution: link selected bands to fluorophore databases</a:t>
            </a:r>
          </a:p>
          <a:p>
            <a:pPr algn="l" lvl="1">
              <a:spcAft>
                <a:spcPts val="600"/>
              </a:spcAft>
            </a:pPr>
            <a:r>
              <a:rPr sz="1100">
                <a:solidFill>
                  <a:srgbClr val="333333"/>
                </a:solidFill>
              </a:rPr>
              <a:t>– Uncertainty quantification via variational autoencoders</a:t>
            </a:r>
          </a:p>
        </p:txBody>
      </p:sp>
      <p:sp>
        <p:nvSpPr>
          <p:cNvPr id="5" name="TextBox 4"/>
          <p:cNvSpPr txBox="1"/>
          <p:nvPr/>
        </p:nvSpPr>
        <p:spPr>
          <a:xfrm>
            <a:off x="365760" y="6492240"/>
            <a:ext cx="6400800" cy="274320"/>
          </a:xfrm>
          <a:prstGeom prst="rect">
            <a:avLst/>
          </a:prstGeom>
          <a:noFill/>
        </p:spPr>
        <p:txBody>
          <a:bodyPr wrap="square" anchor="t">
            <a:spAutoFit/>
          </a:bodyPr>
          <a:lstStyle/>
          <a:p>
            <a:pPr algn="l"/>
            <a:r>
              <a:rPr sz="900" b="0" i="1">
                <a:solidFill>
                  <a:srgbClr val="888888"/>
                </a:solidFill>
              </a:rPr>
              <a:t>Master's Thesis Defense — Narek Meloyan — 2026</a:t>
            </a:r>
          </a:p>
        </p:txBody>
      </p:sp>
      <p:sp>
        <p:nvSpPr>
          <p:cNvPr id="6" name="TextBox 5"/>
          <p:cNvSpPr txBox="1"/>
          <p:nvPr/>
        </p:nvSpPr>
        <p:spPr>
          <a:xfrm>
            <a:off x="11155680" y="6492240"/>
            <a:ext cx="731520" cy="274320"/>
          </a:xfrm>
          <a:prstGeom prst="rect">
            <a:avLst/>
          </a:prstGeom>
          <a:noFill/>
        </p:spPr>
        <p:txBody>
          <a:bodyPr wrap="square" anchor="t">
            <a:spAutoFit/>
          </a:bodyPr>
          <a:lstStyle/>
          <a:p>
            <a:pPr algn="r"/>
            <a:r>
              <a:rPr sz="900" b="0" i="0">
                <a:solidFill>
                  <a:srgbClr val="888888"/>
                </a:solidFill>
              </a:rPr>
              <a:t>29 / 31</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48640"/>
          </a:xfrm>
          <a:prstGeom prst="rect">
            <a:avLst/>
          </a:prstGeom>
          <a:noFill/>
        </p:spPr>
        <p:txBody>
          <a:bodyPr wrap="square" anchor="ctr">
            <a:spAutoFit/>
          </a:bodyPr>
          <a:lstStyle/>
          <a:p>
            <a:pPr algn="l"/>
            <a:r>
              <a:rPr sz="2600" b="1" i="0">
                <a:solidFill>
                  <a:srgbClr val="FFFFFF"/>
                </a:solidFill>
              </a:rPr>
              <a:t>Image credits &amp; acknowledgments</a:t>
            </a:r>
          </a:p>
        </p:txBody>
      </p:sp>
      <p:sp>
        <p:nvSpPr>
          <p:cNvPr id="4" name="TextBox 3"/>
          <p:cNvSpPr txBox="1"/>
          <p:nvPr/>
        </p:nvSpPr>
        <p:spPr>
          <a:xfrm>
            <a:off x="457200" y="1005840"/>
            <a:ext cx="11338560" cy="457200"/>
          </a:xfrm>
          <a:prstGeom prst="rect">
            <a:avLst/>
          </a:prstGeom>
          <a:noFill/>
        </p:spPr>
        <p:txBody>
          <a:bodyPr wrap="square" anchor="t">
            <a:spAutoFit/>
          </a:bodyPr>
          <a:lstStyle/>
          <a:p>
            <a:pPr algn="l"/>
            <a:r>
              <a:rPr sz="1600" b="1" i="0">
                <a:solidFill>
                  <a:srgbClr val="1F4E79"/>
                </a:solidFill>
              </a:rPr>
              <a:t>Third-party images used in this presentation</a:t>
            </a:r>
          </a:p>
        </p:txBody>
      </p:sp>
      <p:sp>
        <p:nvSpPr>
          <p:cNvPr id="5" name="TextBox 4"/>
          <p:cNvSpPr txBox="1"/>
          <p:nvPr/>
        </p:nvSpPr>
        <p:spPr>
          <a:xfrm>
            <a:off x="457200" y="1463040"/>
            <a:ext cx="11338560" cy="4206240"/>
          </a:xfrm>
          <a:prstGeom prst="rect">
            <a:avLst/>
          </a:prstGeom>
          <a:noFill/>
        </p:spPr>
        <p:txBody>
          <a:bodyPr wrap="square">
            <a:spAutoFit/>
          </a:bodyPr>
          <a:lstStyle/>
          <a:p>
            <a:pPr algn="l">
              <a:spcAft>
                <a:spcPts val="600"/>
              </a:spcAft>
            </a:pPr>
            <a:r>
              <a:rPr sz="1200">
                <a:solidFill>
                  <a:srgbClr val="333333"/>
                </a:solidFill>
              </a:rPr>
              <a:t>• All third-party images sourced from Wikimedia Commons under Creative Commons licenses</a:t>
            </a:r>
          </a:p>
          <a:p>
            <a:pPr algn="l">
              <a:spcAft>
                <a:spcPts val="600"/>
              </a:spcAft>
            </a:pPr>
            <a:r>
              <a:rPr sz="1200">
                <a:solidFill>
                  <a:srgbClr val="333333"/>
                </a:solidFill>
              </a:rPr>
              <a:t>• Slide 3 — vision in nature:</a:t>
            </a:r>
          </a:p>
          <a:p>
            <a:pPr algn="l" lvl="1">
              <a:spcAft>
                <a:spcPts val="600"/>
              </a:spcAft>
            </a:pPr>
            <a:r>
              <a:rPr sz="900">
                <a:solidFill>
                  <a:srgbClr val="333333"/>
                </a:solidFill>
              </a:rPr>
              <a:t>– Honeybee on flower; Male monarch butterfly; Mantis shrimp (Gilli Banta reef); EM spectrum band</a:t>
            </a:r>
          </a:p>
          <a:p>
            <a:pPr algn="l">
              <a:spcAft>
                <a:spcPts val="600"/>
              </a:spcAft>
            </a:pPr>
            <a:r>
              <a:rPr sz="1200">
                <a:solidFill>
                  <a:srgbClr val="333333"/>
                </a:solidFill>
              </a:rPr>
              <a:t>• Slide 4 — HSI applications:  Landsat-5 false-colour, Ethiopia (NASA / USGS, public domain)</a:t>
            </a:r>
          </a:p>
          <a:p>
            <a:pPr algn="l">
              <a:spcAft>
                <a:spcPts val="600"/>
              </a:spcAft>
            </a:pPr>
            <a:r>
              <a:rPr sz="1200">
                <a:solidFill>
                  <a:srgbClr val="333333"/>
                </a:solidFill>
              </a:rPr>
              <a:t>• Slide 5 — biomedicine:  GFP super-resolution micrograph, Christoph Cremer</a:t>
            </a:r>
          </a:p>
          <a:p>
            <a:pPr algn="l">
              <a:spcAft>
                <a:spcPts val="600"/>
              </a:spcAft>
            </a:pPr>
            <a:r>
              <a:rPr sz="1200">
                <a:solidFill>
                  <a:srgbClr val="333333"/>
                </a:solidFill>
              </a:rPr>
              <a:t>• Slide 6 — fluorescence:  Jablonski diagram; Fluorescent minerals under UV, Hannes Grobe</a:t>
            </a:r>
          </a:p>
          <a:p>
            <a:pPr algn="l">
              <a:spcAft>
                <a:spcPts val="600"/>
              </a:spcAft>
            </a:pPr>
            <a:r>
              <a:rPr sz="1200">
                <a:solidFill>
                  <a:srgbClr val="333333"/>
                </a:solidFill>
              </a:rPr>
              <a:t>• Slides 1, 7, 9 — HSI cubes:  Mono / Multi / Hyperspectral spectral signatures illustration</a:t>
            </a:r>
          </a:p>
          <a:p>
            <a:pPr algn="l">
              <a:spcAft>
                <a:spcPts val="600"/>
              </a:spcAft>
            </a:pPr>
            <a:r>
              <a:rPr sz="1200">
                <a:solidFill>
                  <a:srgbClr val="333333"/>
                </a:solidFill>
              </a:rPr>
              <a:t>• Full attribution table: MasterThesis_Narek_Meloyan/images_third_party/CREDITS.md</a:t>
            </a:r>
          </a:p>
        </p:txBody>
      </p:sp>
      <p:sp>
        <p:nvSpPr>
          <p:cNvPr id="6" name="TextBox 5"/>
          <p:cNvSpPr txBox="1"/>
          <p:nvPr/>
        </p:nvSpPr>
        <p:spPr>
          <a:xfrm>
            <a:off x="457200" y="5486400"/>
            <a:ext cx="11338560" cy="457200"/>
          </a:xfrm>
          <a:prstGeom prst="rect">
            <a:avLst/>
          </a:prstGeom>
          <a:noFill/>
        </p:spPr>
        <p:txBody>
          <a:bodyPr wrap="square" anchor="t">
            <a:spAutoFit/>
          </a:bodyPr>
          <a:lstStyle/>
          <a:p>
            <a:pPr algn="l"/>
            <a:r>
              <a:rPr sz="1200" b="0" i="1">
                <a:solidFill>
                  <a:srgbClr val="333333"/>
                </a:solidFill>
              </a:rPr>
              <a:t>Project figures (datasets, results, classification maps) are original work generated from the spectral-select pipeline.</a:t>
            </a:r>
          </a:p>
        </p:txBody>
      </p:sp>
      <p:sp>
        <p:nvSpPr>
          <p:cNvPr id="7" name="TextBox 6"/>
          <p:cNvSpPr txBox="1"/>
          <p:nvPr/>
        </p:nvSpPr>
        <p:spPr>
          <a:xfrm>
            <a:off x="365760" y="6492240"/>
            <a:ext cx="6400800" cy="274320"/>
          </a:xfrm>
          <a:prstGeom prst="rect">
            <a:avLst/>
          </a:prstGeom>
          <a:noFill/>
        </p:spPr>
        <p:txBody>
          <a:bodyPr wrap="square" anchor="t">
            <a:spAutoFit/>
          </a:bodyPr>
          <a:lstStyle/>
          <a:p>
            <a:pPr algn="l"/>
            <a:r>
              <a:rPr sz="900" b="0" i="1">
                <a:solidFill>
                  <a:srgbClr val="888888"/>
                </a:solidFill>
              </a:rPr>
              <a:t>Master's Thesis Defense — Narek Meloyan — 2026</a:t>
            </a:r>
          </a:p>
        </p:txBody>
      </p:sp>
      <p:sp>
        <p:nvSpPr>
          <p:cNvPr id="8" name="TextBox 7"/>
          <p:cNvSpPr txBox="1"/>
          <p:nvPr/>
        </p:nvSpPr>
        <p:spPr>
          <a:xfrm>
            <a:off x="11155680" y="6492240"/>
            <a:ext cx="731520" cy="274320"/>
          </a:xfrm>
          <a:prstGeom prst="rect">
            <a:avLst/>
          </a:prstGeom>
          <a:noFill/>
        </p:spPr>
        <p:txBody>
          <a:bodyPr wrap="square" anchor="t">
            <a:spAutoFit/>
          </a:bodyPr>
          <a:lstStyle/>
          <a:p>
            <a:pPr algn="r"/>
            <a:r>
              <a:rPr sz="900" b="0" i="0">
                <a:solidFill>
                  <a:srgbClr val="888888"/>
                </a:solidFill>
              </a:rPr>
              <a:t>30 / 31</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377440"/>
            <a:ext cx="11247120" cy="914400"/>
          </a:xfrm>
          <a:prstGeom prst="rect">
            <a:avLst/>
          </a:prstGeom>
          <a:noFill/>
        </p:spPr>
        <p:txBody>
          <a:bodyPr wrap="square" anchor="t">
            <a:spAutoFit/>
          </a:bodyPr>
          <a:lstStyle/>
          <a:p>
            <a:pPr algn="ctr"/>
            <a:r>
              <a:rPr sz="6400" b="1" i="0">
                <a:solidFill>
                  <a:srgbClr val="1F4E79"/>
                </a:solidFill>
              </a:rPr>
              <a:t>Thank you</a:t>
            </a:r>
          </a:p>
        </p:txBody>
      </p:sp>
      <p:sp>
        <p:nvSpPr>
          <p:cNvPr id="3" name="TextBox 2"/>
          <p:cNvSpPr txBox="1"/>
          <p:nvPr/>
        </p:nvSpPr>
        <p:spPr>
          <a:xfrm>
            <a:off x="457200" y="3657600"/>
            <a:ext cx="11247120" cy="548640"/>
          </a:xfrm>
          <a:prstGeom prst="rect">
            <a:avLst/>
          </a:prstGeom>
          <a:noFill/>
        </p:spPr>
        <p:txBody>
          <a:bodyPr wrap="square" anchor="t">
            <a:spAutoFit/>
          </a:bodyPr>
          <a:lstStyle/>
          <a:p>
            <a:pPr algn="ctr"/>
            <a:r>
              <a:rPr sz="3200" b="0" i="1">
                <a:solidFill>
                  <a:srgbClr val="333333"/>
                </a:solidFill>
              </a:rPr>
              <a:t>Questions?</a:t>
            </a:r>
          </a:p>
        </p:txBody>
      </p:sp>
      <p:sp>
        <p:nvSpPr>
          <p:cNvPr id="4" name="TextBox 3"/>
          <p:cNvSpPr txBox="1"/>
          <p:nvPr/>
        </p:nvSpPr>
        <p:spPr>
          <a:xfrm>
            <a:off x="457200" y="4937760"/>
            <a:ext cx="11247120" cy="365760"/>
          </a:xfrm>
          <a:prstGeom prst="rect">
            <a:avLst/>
          </a:prstGeom>
          <a:noFill/>
        </p:spPr>
        <p:txBody>
          <a:bodyPr wrap="square" anchor="t">
            <a:spAutoFit/>
          </a:bodyPr>
          <a:lstStyle/>
          <a:p>
            <a:pPr algn="ctr"/>
            <a:r>
              <a:rPr sz="1400" b="0" i="0">
                <a:solidFill>
                  <a:srgbClr val="888888"/>
                </a:solidFill>
              </a:rPr>
              <a:t>Code: github.com/Nard248/spectral-select</a:t>
            </a:r>
          </a:p>
        </p:txBody>
      </p:sp>
      <p:sp>
        <p:nvSpPr>
          <p:cNvPr id="5" name="TextBox 4"/>
          <p:cNvSpPr txBox="1"/>
          <p:nvPr/>
        </p:nvSpPr>
        <p:spPr>
          <a:xfrm>
            <a:off x="457200" y="5394960"/>
            <a:ext cx="11247120" cy="365760"/>
          </a:xfrm>
          <a:prstGeom prst="rect">
            <a:avLst/>
          </a:prstGeom>
          <a:noFill/>
        </p:spPr>
        <p:txBody>
          <a:bodyPr wrap="square" anchor="t">
            <a:spAutoFit/>
          </a:bodyPr>
          <a:lstStyle/>
          <a:p>
            <a:pPr algn="ctr"/>
            <a:r>
              <a:rPr sz="1400" b="0" i="0">
                <a:solidFill>
                  <a:srgbClr val="888888"/>
                </a:solidFill>
              </a:rPr>
              <a:t>narek_meloyan@edu.aua.am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